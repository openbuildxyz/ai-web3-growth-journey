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74" r:id="rId2"/>
    <p:sldId id="324" r:id="rId3"/>
    <p:sldId id="342" r:id="rId4"/>
    <p:sldId id="295" r:id="rId5"/>
    <p:sldId id="337" r:id="rId6"/>
    <p:sldId id="338" r:id="rId7"/>
    <p:sldId id="332" r:id="rId8"/>
    <p:sldId id="339" r:id="rId9"/>
    <p:sldId id="326" r:id="rId10"/>
    <p:sldId id="343" r:id="rId11"/>
    <p:sldId id="344" r:id="rId12"/>
    <p:sldId id="308" r:id="rId13"/>
    <p:sldId id="333" r:id="rId14"/>
    <p:sldId id="330" r:id="rId15"/>
    <p:sldId id="300"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67E2"/>
    <a:srgbClr val="5B9BD5"/>
    <a:srgbClr val="946BAC"/>
    <a:srgbClr val="8C65A1"/>
    <a:srgbClr val="8D65A3"/>
    <a:srgbClr val="85DD44"/>
    <a:srgbClr val="91B84F"/>
    <a:srgbClr val="84DC42"/>
    <a:srgbClr val="929292"/>
    <a:srgbClr val="456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98" autoAdjust="0"/>
    <p:restoredTop sz="89387" autoAdjust="0"/>
  </p:normalViewPr>
  <p:slideViewPr>
    <p:cSldViewPr snapToGrid="0">
      <p:cViewPr varScale="1">
        <p:scale>
          <a:sx n="82" d="100"/>
          <a:sy n="82" d="100"/>
        </p:scale>
        <p:origin x="749"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825B76-DA73-4853-A077-D385503E1E4C}" type="datetimeFigureOut">
              <a:rPr lang="zh-CN" altLang="en-US" smtClean="0"/>
              <a:t>2026/2/8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305B81-3B61-4DCB-BDBA-2024297FCA7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305B81-3B61-4DCB-BDBA-2024297FCA7F}"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2"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1"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1"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9"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6"/>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2" y="2505076"/>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90" y="457200"/>
            <a:ext cx="3932236"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90" y="457200"/>
            <a:ext cx="3932236"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zh-CN" altLang="en-US"/>
          </a:p>
        </p:txBody>
      </p:sp>
      <p:sp>
        <p:nvSpPr>
          <p:cNvPr id="4" name="文本占位符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99"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199"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2026/2/8</a:t>
            </a:fld>
            <a:endParaRPr lang="zh-CN" altLang="en-US"/>
          </a:p>
        </p:txBody>
      </p:sp>
      <p:sp>
        <p:nvSpPr>
          <p:cNvPr id="5" name="页脚占位符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zh-CN"/>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atomgit.com/UCToo/agentskills-runtime" TargetMode="Externa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hyperlink" Target="https://www.ucto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10759" y="1697807"/>
            <a:ext cx="4570482" cy="646331"/>
          </a:xfrm>
          <a:prstGeom prst="rect">
            <a:avLst/>
          </a:prstGeom>
          <a:noFill/>
        </p:spPr>
        <p:txBody>
          <a:bodyPr wrap="none" rtlCol="0">
            <a:spAutoFit/>
          </a:bodyPr>
          <a:lstStyle/>
          <a:p>
            <a:r>
              <a:rPr lang="en-US" altLang="zh-CN" sz="3600" dirty="0" err="1">
                <a:solidFill>
                  <a:srgbClr val="2E75B6"/>
                </a:solidFill>
                <a:latin typeface="黑体" panose="02010609060101010101" pitchFamily="49" charset="-122"/>
                <a:ea typeface="黑体" panose="02010609060101010101" pitchFamily="49" charset="-122"/>
              </a:rPr>
              <a:t>agentskills</a:t>
            </a:r>
            <a:r>
              <a:rPr lang="en-US" altLang="zh-CN" sz="3600" dirty="0">
                <a:solidFill>
                  <a:srgbClr val="2E75B6"/>
                </a:solidFill>
                <a:latin typeface="黑体" panose="02010609060101010101" pitchFamily="49" charset="-122"/>
                <a:ea typeface="黑体" panose="02010609060101010101" pitchFamily="49" charset="-122"/>
              </a:rPr>
              <a:t>-runtime</a:t>
            </a:r>
            <a:endParaRPr lang="zh-CN" altLang="en-US" sz="3600" dirty="0">
              <a:solidFill>
                <a:srgbClr val="2E75B6"/>
              </a:solidFill>
              <a:latin typeface="黑体" panose="02010609060101010101" pitchFamily="49" charset="-122"/>
              <a:ea typeface="黑体" panose="02010609060101010101" pitchFamily="49" charset="-122"/>
            </a:endParaRPr>
          </a:p>
        </p:txBody>
      </p:sp>
      <p:sp>
        <p:nvSpPr>
          <p:cNvPr id="7" name="文本框 6"/>
          <p:cNvSpPr txBox="1"/>
          <p:nvPr/>
        </p:nvSpPr>
        <p:spPr>
          <a:xfrm>
            <a:off x="3443966" y="4383232"/>
            <a:ext cx="5304066" cy="876650"/>
          </a:xfrm>
          <a:prstGeom prst="rect">
            <a:avLst/>
          </a:prstGeom>
          <a:noFill/>
        </p:spPr>
        <p:txBody>
          <a:bodyPr wrap="square" rtlCol="0">
            <a:spAutoFit/>
          </a:bodyPr>
          <a:lstStyle/>
          <a:p>
            <a:pPr algn="ctr">
              <a:lnSpc>
                <a:spcPct val="150000"/>
              </a:lnSpc>
            </a:pPr>
            <a:r>
              <a:rPr lang="zh-CN" altLang="en-US" sz="1801" dirty="0">
                <a:latin typeface="微软雅黑 Light" panose="020B0502040204020203" pitchFamily="34" charset="-122"/>
                <a:ea typeface="微软雅黑 Light" panose="020B0502040204020203" pitchFamily="34" charset="-122"/>
              </a:rPr>
              <a:t>深圳优创智投科技有限公司</a:t>
            </a:r>
            <a:endParaRPr lang="en-US" altLang="zh-CN" sz="1801" dirty="0">
              <a:latin typeface="微软雅黑 Light" panose="020B0502040204020203" pitchFamily="34" charset="-122"/>
              <a:ea typeface="微软雅黑 Light" panose="020B0502040204020203" pitchFamily="34" charset="-122"/>
            </a:endParaRPr>
          </a:p>
          <a:p>
            <a:pPr algn="ctr">
              <a:lnSpc>
                <a:spcPct val="150000"/>
              </a:lnSpc>
            </a:pPr>
            <a:r>
              <a:rPr lang="zh-CN" altLang="en-US" sz="1801" dirty="0">
                <a:latin typeface="微软雅黑 Light" panose="020B0502040204020203" pitchFamily="34" charset="-122"/>
                <a:ea typeface="微软雅黑 Light" panose="020B0502040204020203" pitchFamily="34" charset="-122"/>
              </a:rPr>
              <a:t>王智鹏</a:t>
            </a:r>
          </a:p>
        </p:txBody>
      </p:sp>
      <p:sp>
        <p:nvSpPr>
          <p:cNvPr id="3" name="文本框 2">
            <a:extLst>
              <a:ext uri="{FF2B5EF4-FFF2-40B4-BE49-F238E27FC236}">
                <a16:creationId xmlns:a16="http://schemas.microsoft.com/office/drawing/2014/main" id="{DA1B1A20-080B-6509-F004-64537DCB6AE9}"/>
              </a:ext>
            </a:extLst>
          </p:cNvPr>
          <p:cNvSpPr txBox="1"/>
          <p:nvPr/>
        </p:nvSpPr>
        <p:spPr>
          <a:xfrm>
            <a:off x="1751433" y="3211239"/>
            <a:ext cx="8689133" cy="304892"/>
          </a:xfrm>
          <a:prstGeom prst="rect">
            <a:avLst/>
          </a:prstGeom>
          <a:noFill/>
        </p:spPr>
        <p:txBody>
          <a:bodyPr wrap="square">
            <a:spAutoFit/>
          </a:bodyPr>
          <a:lstStyle/>
          <a:p>
            <a:pPr>
              <a:lnSpc>
                <a:spcPts val="1425"/>
              </a:lnSpc>
              <a:buNone/>
            </a:pPr>
            <a:r>
              <a:rPr lang="en-US" altLang="zh-CN" sz="3600" dirty="0">
                <a:solidFill>
                  <a:srgbClr val="2E75B6"/>
                </a:solidFill>
                <a:latin typeface="黑体" panose="02010609060101010101" pitchFamily="49" charset="-122"/>
                <a:ea typeface="黑体" panose="02010609060101010101" pitchFamily="49" charset="-122"/>
              </a:rPr>
              <a:t>To enable </a:t>
            </a:r>
            <a:r>
              <a:rPr lang="en-US" altLang="zh-CN" sz="3600" dirty="0" err="1">
                <a:solidFill>
                  <a:srgbClr val="2E75B6"/>
                </a:solidFill>
                <a:latin typeface="黑体" panose="02010609060101010101" pitchFamily="49" charset="-122"/>
                <a:ea typeface="黑体" panose="02010609060101010101" pitchFamily="49" charset="-122"/>
              </a:rPr>
              <a:t>AgentSkills</a:t>
            </a:r>
            <a:r>
              <a:rPr lang="en-US" altLang="zh-CN" sz="3600" dirty="0">
                <a:solidFill>
                  <a:srgbClr val="2E75B6"/>
                </a:solidFill>
                <a:latin typeface="黑体" panose="02010609060101010101" pitchFamily="49" charset="-122"/>
                <a:ea typeface="黑体" panose="02010609060101010101" pitchFamily="49" charset="-122"/>
              </a:rPr>
              <a:t> to run anywhere</a:t>
            </a:r>
          </a:p>
        </p:txBody>
      </p:sp>
    </p:spTree>
  </p:cSld>
  <p:clrMapOvr>
    <a:masterClrMapping/>
  </p:clrMapOvr>
  <mc:AlternateContent xmlns:mc="http://schemas.openxmlformats.org/markup-compatibility/2006" xmlns:p14="http://schemas.microsoft.com/office/powerpoint/2010/main">
    <mc:Choice Requires="p14">
      <p:transition p14:dur="0" advTm="10102"/>
    </mc:Choice>
    <mc:Fallback xmlns="">
      <p:transition advTm="1010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63969" y="144216"/>
            <a:ext cx="8354428" cy="707886"/>
          </a:xfrm>
          <a:prstGeom prst="rect">
            <a:avLst/>
          </a:prstGeom>
        </p:spPr>
        <p:txBody>
          <a:bodyPr wrap="square">
            <a:spAutoFit/>
          </a:bodyPr>
          <a:lstStyle/>
          <a:p>
            <a:pPr algn="ctr" defTabSz="1450358"/>
            <a:r>
              <a:rPr lang="en-US" altLang="zh-CN" sz="4000" b="1" dirty="0" err="1">
                <a:solidFill>
                  <a:srgbClr val="333333"/>
                </a:solidFill>
                <a:latin typeface="Microsoft YaHei" pitchFamily="34" charset="0"/>
                <a:ea typeface="Microsoft YaHei" pitchFamily="34" charset="-122"/>
              </a:rPr>
              <a:t>时代机遇：重构AI时代的数字基建</a:t>
            </a:r>
            <a:endParaRPr lang="en-CA" altLang="zh-CN"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37" name="矩形 36"/>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3" name="500美元以上全球高端智能手机市场份额稳步增长">
            <a:extLst>
              <a:ext uri="{FF2B5EF4-FFF2-40B4-BE49-F238E27FC236}">
                <a16:creationId xmlns:a16="http://schemas.microsoft.com/office/drawing/2014/main" id="{BA980CB8-DD2C-F917-B691-30ED29D2F7EF}"/>
              </a:ext>
            </a:extLst>
          </p:cNvPr>
          <p:cNvSpPr txBox="1"/>
          <p:nvPr/>
        </p:nvSpPr>
        <p:spPr>
          <a:xfrm>
            <a:off x="183710" y="805936"/>
            <a:ext cx="11440939" cy="3100539"/>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en-US" altLang="zh-CN" sz="1600" spc="201" dirty="0">
                <a:latin typeface="方正兰亭黑简体" panose="02000000000000000000" charset="-122"/>
                <a:sym typeface="+mn-ea"/>
              </a:rPr>
              <a:t>1</a:t>
            </a:r>
            <a:r>
              <a:rPr lang="zh-CN" altLang="en-US" sz="1600" dirty="0">
                <a:sym typeface="+mn-ea"/>
              </a:rPr>
              <a:t>）在刚发布的“十五五”规划中，明确提出加快高水平科技自立自强，引领发展新质生产力，加强原始创新和关键核心技术攻关。编程语言及开发框架是建设数字世界的底座。</a:t>
            </a:r>
            <a:endParaRPr lang="en-US" altLang="zh-CN" sz="1600" dirty="0">
              <a:sym typeface="+mn-ea"/>
            </a:endParaRPr>
          </a:p>
          <a:p>
            <a:pPr>
              <a:lnSpc>
                <a:spcPct val="200000"/>
              </a:lnSpc>
            </a:pPr>
            <a:r>
              <a:rPr lang="en-US" altLang="zh-CN" sz="1600" dirty="0">
                <a:sym typeface="+mn-ea"/>
              </a:rPr>
              <a:t>2</a:t>
            </a:r>
            <a:r>
              <a:rPr lang="zh-CN" altLang="en-US" sz="1600" dirty="0">
                <a:sym typeface="+mn-ea"/>
              </a:rPr>
              <a:t>）鸿蒙生态快速发展，成为全球三大操作系统。在中美科技战的背景下，在全球供应链和技术体系脱钩断链的现实情况下，必然需要国产编程语言以及相应的国产开发框架能够支撑起数字经济发展的根基，形成全链路自主可控的新一代数字基础设施</a:t>
            </a:r>
            <a:endParaRPr lang="en-US" altLang="zh-CN" sz="1600" dirty="0">
              <a:sym typeface="+mn-ea"/>
            </a:endParaRPr>
          </a:p>
          <a:p>
            <a:pPr>
              <a:lnSpc>
                <a:spcPct val="200000"/>
              </a:lnSpc>
            </a:pPr>
            <a:r>
              <a:rPr lang="en-US" altLang="zh-CN" sz="1600" dirty="0">
                <a:sym typeface="+mn-ea"/>
              </a:rPr>
              <a:t>3</a:t>
            </a:r>
            <a:r>
              <a:rPr lang="zh-CN" altLang="en-US" sz="1600" dirty="0">
                <a:sym typeface="+mn-ea"/>
              </a:rPr>
              <a:t>）目前市场上缺少一款开源通用的高性能</a:t>
            </a:r>
            <a:r>
              <a:rPr lang="en-US" altLang="zh-CN" sz="1600" dirty="0" err="1">
                <a:sym typeface="+mn-ea"/>
              </a:rPr>
              <a:t>AgentSkill</a:t>
            </a:r>
            <a:r>
              <a:rPr lang="zh-CN" altLang="en-US" sz="1600" dirty="0">
                <a:sym typeface="+mn-ea"/>
              </a:rPr>
              <a:t>运行时环境</a:t>
            </a:r>
            <a:r>
              <a:rPr lang="en-US" altLang="zh-CN" sz="1600" dirty="0">
                <a:sym typeface="+mn-ea"/>
              </a:rPr>
              <a:t>,</a:t>
            </a:r>
            <a:r>
              <a:rPr lang="zh-CN" altLang="en-US" sz="1600" dirty="0">
                <a:sym typeface="+mn-ea"/>
              </a:rPr>
              <a:t>以驱动</a:t>
            </a:r>
            <a:r>
              <a:rPr lang="en-US" altLang="zh-CN" sz="1600" dirty="0" err="1">
                <a:sym typeface="+mn-ea"/>
              </a:rPr>
              <a:t>AgentSkill</a:t>
            </a:r>
            <a:r>
              <a:rPr lang="zh-CN" altLang="en-US" sz="1600" dirty="0">
                <a:sym typeface="+mn-ea"/>
              </a:rPr>
              <a:t>能够在任何地方运行。</a:t>
            </a:r>
            <a:endParaRPr lang="en-US" altLang="zh-CN" sz="1600" dirty="0">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1118"/>
    </mc:Choice>
    <mc:Fallback xmlns="">
      <p:transition advTm="111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29972" y="153000"/>
            <a:ext cx="2236510" cy="707886"/>
          </a:xfrm>
          <a:prstGeom prst="rect">
            <a:avLst/>
          </a:prstGeom>
        </p:spPr>
        <p:txBody>
          <a:bodyPr wrap="none">
            <a:spAutoFit/>
          </a:bodyPr>
          <a:lstStyle/>
          <a:p>
            <a:pPr algn="ctr" defTabSz="1450358"/>
            <a:r>
              <a:rPr lang="zh-CN" altLang="en-US" sz="4000" b="1" dirty="0">
                <a:solidFill>
                  <a:srgbClr val="333333"/>
                </a:solidFill>
                <a:latin typeface="Microsoft YaHei" pitchFamily="34" charset="0"/>
                <a:ea typeface="Microsoft YaHei" pitchFamily="34" charset="-122"/>
              </a:rPr>
              <a:t>市场现状</a:t>
            </a:r>
            <a:endParaRPr lang="en-CA" altLang="zh-CN" sz="4000" b="1" dirty="0">
              <a:solidFill>
                <a:srgbClr val="333333"/>
              </a:solidFill>
              <a:latin typeface="Microsoft YaHei" pitchFamily="34" charset="0"/>
              <a:ea typeface="Microsoft YaHei" pitchFamily="34" charset="-122"/>
            </a:endParaRPr>
          </a:p>
        </p:txBody>
      </p:sp>
      <p:sp>
        <p:nvSpPr>
          <p:cNvPr id="37" name="矩形 36"/>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pic>
        <p:nvPicPr>
          <p:cNvPr id="7" name="图片 6">
            <a:extLst>
              <a:ext uri="{FF2B5EF4-FFF2-40B4-BE49-F238E27FC236}">
                <a16:creationId xmlns:a16="http://schemas.microsoft.com/office/drawing/2014/main" id="{6A6943BA-7B6C-C180-3517-C3E35D9CCBA6}"/>
              </a:ext>
            </a:extLst>
          </p:cNvPr>
          <p:cNvPicPr>
            <a:picLocks noChangeAspect="1"/>
          </p:cNvPicPr>
          <p:nvPr/>
        </p:nvPicPr>
        <p:blipFill>
          <a:blip r:embed="rId2"/>
          <a:stretch>
            <a:fillRect/>
          </a:stretch>
        </p:blipFill>
        <p:spPr>
          <a:xfrm>
            <a:off x="97932" y="936822"/>
            <a:ext cx="1428571" cy="5723809"/>
          </a:xfrm>
          <a:prstGeom prst="rect">
            <a:avLst/>
          </a:prstGeom>
        </p:spPr>
      </p:pic>
      <p:pic>
        <p:nvPicPr>
          <p:cNvPr id="11" name="图片 10">
            <a:extLst>
              <a:ext uri="{FF2B5EF4-FFF2-40B4-BE49-F238E27FC236}">
                <a16:creationId xmlns:a16="http://schemas.microsoft.com/office/drawing/2014/main" id="{6B092300-D445-36C1-68E7-220EBDA38736}"/>
              </a:ext>
            </a:extLst>
          </p:cNvPr>
          <p:cNvPicPr>
            <a:picLocks noChangeAspect="1"/>
          </p:cNvPicPr>
          <p:nvPr/>
        </p:nvPicPr>
        <p:blipFill>
          <a:blip r:embed="rId3"/>
          <a:stretch>
            <a:fillRect/>
          </a:stretch>
        </p:blipFill>
        <p:spPr>
          <a:xfrm>
            <a:off x="3538954" y="909978"/>
            <a:ext cx="1657143" cy="4523809"/>
          </a:xfrm>
          <a:prstGeom prst="rect">
            <a:avLst/>
          </a:prstGeom>
        </p:spPr>
      </p:pic>
      <p:pic>
        <p:nvPicPr>
          <p:cNvPr id="17" name="图片 16">
            <a:extLst>
              <a:ext uri="{FF2B5EF4-FFF2-40B4-BE49-F238E27FC236}">
                <a16:creationId xmlns:a16="http://schemas.microsoft.com/office/drawing/2014/main" id="{1D04312D-872F-5D36-FA91-1A7BD67F43CA}"/>
              </a:ext>
            </a:extLst>
          </p:cNvPr>
          <p:cNvPicPr>
            <a:picLocks noChangeAspect="1"/>
          </p:cNvPicPr>
          <p:nvPr/>
        </p:nvPicPr>
        <p:blipFill>
          <a:blip r:embed="rId4"/>
          <a:stretch>
            <a:fillRect/>
          </a:stretch>
        </p:blipFill>
        <p:spPr>
          <a:xfrm>
            <a:off x="8650312" y="862358"/>
            <a:ext cx="1714286" cy="4571429"/>
          </a:xfrm>
          <a:prstGeom prst="rect">
            <a:avLst/>
          </a:prstGeom>
        </p:spPr>
      </p:pic>
      <p:pic>
        <p:nvPicPr>
          <p:cNvPr id="19" name="图片 18">
            <a:extLst>
              <a:ext uri="{FF2B5EF4-FFF2-40B4-BE49-F238E27FC236}">
                <a16:creationId xmlns:a16="http://schemas.microsoft.com/office/drawing/2014/main" id="{956DD3EA-574F-279C-F06E-FEA617510A3C}"/>
              </a:ext>
            </a:extLst>
          </p:cNvPr>
          <p:cNvPicPr>
            <a:picLocks noChangeAspect="1"/>
          </p:cNvPicPr>
          <p:nvPr/>
        </p:nvPicPr>
        <p:blipFill>
          <a:blip r:embed="rId5"/>
          <a:stretch>
            <a:fillRect/>
          </a:stretch>
        </p:blipFill>
        <p:spPr>
          <a:xfrm>
            <a:off x="1526503" y="953938"/>
            <a:ext cx="2047619" cy="4466667"/>
          </a:xfrm>
          <a:prstGeom prst="rect">
            <a:avLst/>
          </a:prstGeom>
        </p:spPr>
      </p:pic>
      <p:sp>
        <p:nvSpPr>
          <p:cNvPr id="20" name="文本框 19">
            <a:extLst>
              <a:ext uri="{FF2B5EF4-FFF2-40B4-BE49-F238E27FC236}">
                <a16:creationId xmlns:a16="http://schemas.microsoft.com/office/drawing/2014/main" id="{DE020C90-43A9-843C-DEC7-E563A623BF33}"/>
              </a:ext>
            </a:extLst>
          </p:cNvPr>
          <p:cNvSpPr txBox="1"/>
          <p:nvPr/>
        </p:nvSpPr>
        <p:spPr>
          <a:xfrm>
            <a:off x="1249863" y="5441571"/>
            <a:ext cx="1757212" cy="461665"/>
          </a:xfrm>
          <a:prstGeom prst="rect">
            <a:avLst/>
          </a:prstGeom>
          <a:noFill/>
        </p:spPr>
        <p:txBody>
          <a:bodyPr wrap="none" rtlCol="0">
            <a:spAutoFit/>
          </a:bodyPr>
          <a:lstStyle/>
          <a:p>
            <a:r>
              <a:rPr lang="zh-CN" altLang="en-US" sz="1200" b="1" dirty="0"/>
              <a:t>语法简洁</a:t>
            </a:r>
            <a:endParaRPr lang="en-US" altLang="zh-CN" sz="1200" b="1" dirty="0"/>
          </a:p>
          <a:p>
            <a:r>
              <a:rPr lang="en-US" altLang="zh-CN" sz="1200" b="1" dirty="0"/>
              <a:t>AI/</a:t>
            </a:r>
            <a:r>
              <a:rPr lang="zh-CN" altLang="en-US" sz="1200" b="1" dirty="0"/>
              <a:t>数据科学库生态丰富</a:t>
            </a:r>
          </a:p>
        </p:txBody>
      </p:sp>
      <p:sp>
        <p:nvSpPr>
          <p:cNvPr id="21" name="文本框 20">
            <a:extLst>
              <a:ext uri="{FF2B5EF4-FFF2-40B4-BE49-F238E27FC236}">
                <a16:creationId xmlns:a16="http://schemas.microsoft.com/office/drawing/2014/main" id="{E140D69E-4118-044D-135D-E562F3B288A3}"/>
              </a:ext>
            </a:extLst>
          </p:cNvPr>
          <p:cNvSpPr txBox="1"/>
          <p:nvPr/>
        </p:nvSpPr>
        <p:spPr>
          <a:xfrm>
            <a:off x="1249863" y="6126427"/>
            <a:ext cx="2178802" cy="461665"/>
          </a:xfrm>
          <a:prstGeom prst="rect">
            <a:avLst/>
          </a:prstGeom>
          <a:noFill/>
        </p:spPr>
        <p:txBody>
          <a:bodyPr wrap="none" rtlCol="0">
            <a:spAutoFit/>
          </a:bodyPr>
          <a:lstStyle/>
          <a:p>
            <a:r>
              <a:rPr lang="zh-CN" altLang="en-US" sz="1200" b="1" dirty="0"/>
              <a:t>执行速度相对较慢</a:t>
            </a:r>
          </a:p>
          <a:p>
            <a:r>
              <a:rPr lang="zh-CN" altLang="en-US" sz="1200" b="1" dirty="0"/>
              <a:t>全局解释器锁</a:t>
            </a:r>
            <a:r>
              <a:rPr lang="en-US" altLang="zh-CN" sz="1200" b="1" dirty="0"/>
              <a:t>(GIL)</a:t>
            </a:r>
            <a:r>
              <a:rPr lang="zh-CN" altLang="en-US" sz="1200" b="1" dirty="0"/>
              <a:t>限制多线程</a:t>
            </a:r>
          </a:p>
        </p:txBody>
      </p:sp>
      <p:sp>
        <p:nvSpPr>
          <p:cNvPr id="22" name="文本框 21">
            <a:extLst>
              <a:ext uri="{FF2B5EF4-FFF2-40B4-BE49-F238E27FC236}">
                <a16:creationId xmlns:a16="http://schemas.microsoft.com/office/drawing/2014/main" id="{22AD647D-6CF1-F516-FB98-47404C7A2083}"/>
              </a:ext>
            </a:extLst>
          </p:cNvPr>
          <p:cNvSpPr txBox="1"/>
          <p:nvPr/>
        </p:nvSpPr>
        <p:spPr>
          <a:xfrm>
            <a:off x="3367121" y="5441571"/>
            <a:ext cx="1789272" cy="461665"/>
          </a:xfrm>
          <a:prstGeom prst="rect">
            <a:avLst/>
          </a:prstGeom>
          <a:noFill/>
        </p:spPr>
        <p:txBody>
          <a:bodyPr wrap="none" rtlCol="0">
            <a:spAutoFit/>
          </a:bodyPr>
          <a:lstStyle/>
          <a:p>
            <a:r>
              <a:rPr lang="zh-CN" altLang="en-US" sz="1200" b="1" dirty="0"/>
              <a:t>企业级应用稳定</a:t>
            </a:r>
            <a:endParaRPr lang="en-US" altLang="zh-CN" sz="1200" b="1" dirty="0"/>
          </a:p>
          <a:p>
            <a:r>
              <a:rPr lang="zh-CN" altLang="en-US" sz="1200" b="1" dirty="0"/>
              <a:t>跨平台</a:t>
            </a:r>
            <a:r>
              <a:rPr lang="en-US" altLang="zh-CN" sz="1200" b="1" dirty="0"/>
              <a:t>(JVM)</a:t>
            </a:r>
            <a:r>
              <a:rPr lang="zh-CN" altLang="en-US" sz="1200" b="1" dirty="0"/>
              <a:t>，海量岗位</a:t>
            </a:r>
            <a:endParaRPr lang="en-US" altLang="zh-CN" sz="1200" b="1" dirty="0"/>
          </a:p>
        </p:txBody>
      </p:sp>
      <p:sp>
        <p:nvSpPr>
          <p:cNvPr id="23" name="文本框 22">
            <a:extLst>
              <a:ext uri="{FF2B5EF4-FFF2-40B4-BE49-F238E27FC236}">
                <a16:creationId xmlns:a16="http://schemas.microsoft.com/office/drawing/2014/main" id="{E5020BE5-7538-B2E1-6217-8D19A2912776}"/>
              </a:ext>
            </a:extLst>
          </p:cNvPr>
          <p:cNvSpPr txBox="1"/>
          <p:nvPr/>
        </p:nvSpPr>
        <p:spPr>
          <a:xfrm>
            <a:off x="3367121" y="6126427"/>
            <a:ext cx="1877437" cy="461665"/>
          </a:xfrm>
          <a:prstGeom prst="rect">
            <a:avLst/>
          </a:prstGeom>
          <a:noFill/>
        </p:spPr>
        <p:txBody>
          <a:bodyPr wrap="none" rtlCol="0">
            <a:spAutoFit/>
          </a:bodyPr>
          <a:lstStyle/>
          <a:p>
            <a:r>
              <a:rPr lang="zh-CN" altLang="en-US" sz="1200" b="1" dirty="0"/>
              <a:t>语法相对冗长</a:t>
            </a:r>
          </a:p>
          <a:p>
            <a:r>
              <a:rPr lang="zh-CN" altLang="en-US" sz="1200" b="1" dirty="0"/>
              <a:t>内存占用较高，启动较慢</a:t>
            </a:r>
          </a:p>
        </p:txBody>
      </p:sp>
      <p:sp>
        <p:nvSpPr>
          <p:cNvPr id="24" name="文本框 23">
            <a:extLst>
              <a:ext uri="{FF2B5EF4-FFF2-40B4-BE49-F238E27FC236}">
                <a16:creationId xmlns:a16="http://schemas.microsoft.com/office/drawing/2014/main" id="{216098A7-1F39-B336-F6EB-01E5701038B3}"/>
              </a:ext>
            </a:extLst>
          </p:cNvPr>
          <p:cNvSpPr txBox="1"/>
          <p:nvPr/>
        </p:nvSpPr>
        <p:spPr>
          <a:xfrm>
            <a:off x="5191755" y="5441571"/>
            <a:ext cx="1757212" cy="461665"/>
          </a:xfrm>
          <a:prstGeom prst="rect">
            <a:avLst/>
          </a:prstGeom>
          <a:noFill/>
        </p:spPr>
        <p:txBody>
          <a:bodyPr wrap="none" rtlCol="0">
            <a:spAutoFit/>
          </a:bodyPr>
          <a:lstStyle/>
          <a:p>
            <a:r>
              <a:rPr lang="zh-CN" altLang="en-US" sz="1200" b="1" dirty="0"/>
              <a:t>前端领域绝对主导</a:t>
            </a:r>
            <a:endParaRPr lang="en-US" altLang="zh-CN" sz="1200" b="1" dirty="0"/>
          </a:p>
          <a:p>
            <a:r>
              <a:rPr lang="zh-CN" altLang="en-US" sz="1200" b="1" dirty="0"/>
              <a:t>生态庞大，可全栈开发</a:t>
            </a:r>
          </a:p>
        </p:txBody>
      </p:sp>
      <p:sp>
        <p:nvSpPr>
          <p:cNvPr id="25" name="文本框 24">
            <a:extLst>
              <a:ext uri="{FF2B5EF4-FFF2-40B4-BE49-F238E27FC236}">
                <a16:creationId xmlns:a16="http://schemas.microsoft.com/office/drawing/2014/main" id="{90635BC3-A774-1F7E-0F46-18D86FB7AC23}"/>
              </a:ext>
            </a:extLst>
          </p:cNvPr>
          <p:cNvSpPr txBox="1"/>
          <p:nvPr/>
        </p:nvSpPr>
        <p:spPr>
          <a:xfrm>
            <a:off x="5191755" y="6126427"/>
            <a:ext cx="1723549" cy="461665"/>
          </a:xfrm>
          <a:prstGeom prst="rect">
            <a:avLst/>
          </a:prstGeom>
          <a:noFill/>
        </p:spPr>
        <p:txBody>
          <a:bodyPr wrap="none" rtlCol="0">
            <a:spAutoFit/>
          </a:bodyPr>
          <a:lstStyle/>
          <a:p>
            <a:r>
              <a:rPr lang="zh-CN" altLang="en-US" sz="1200" b="1" dirty="0"/>
              <a:t>异步编程回调地狱</a:t>
            </a:r>
          </a:p>
          <a:p>
            <a:r>
              <a:rPr lang="zh-CN" altLang="en-US" sz="1200" b="1" dirty="0"/>
              <a:t>语言设计灵活易不一致</a:t>
            </a:r>
          </a:p>
        </p:txBody>
      </p:sp>
      <p:sp>
        <p:nvSpPr>
          <p:cNvPr id="26" name="文本框 25">
            <a:extLst>
              <a:ext uri="{FF2B5EF4-FFF2-40B4-BE49-F238E27FC236}">
                <a16:creationId xmlns:a16="http://schemas.microsoft.com/office/drawing/2014/main" id="{9DE2A244-AF17-AB05-6F7E-E2ED9D412CF7}"/>
              </a:ext>
            </a:extLst>
          </p:cNvPr>
          <p:cNvSpPr txBox="1"/>
          <p:nvPr/>
        </p:nvSpPr>
        <p:spPr>
          <a:xfrm>
            <a:off x="6794880" y="5453298"/>
            <a:ext cx="1877437" cy="461665"/>
          </a:xfrm>
          <a:prstGeom prst="rect">
            <a:avLst/>
          </a:prstGeom>
          <a:noFill/>
        </p:spPr>
        <p:txBody>
          <a:bodyPr wrap="none" rtlCol="0">
            <a:spAutoFit/>
          </a:bodyPr>
          <a:lstStyle/>
          <a:p>
            <a:r>
              <a:rPr lang="zh-CN" altLang="en-US" sz="1200" b="1" dirty="0"/>
              <a:t>微软生态整合好</a:t>
            </a:r>
            <a:endParaRPr lang="en-US" altLang="zh-CN" sz="1200" b="1" dirty="0"/>
          </a:p>
          <a:p>
            <a:r>
              <a:rPr lang="zh-CN" altLang="en-US" sz="1200" b="1" dirty="0"/>
              <a:t>云原生支持佳，性能优秀</a:t>
            </a:r>
          </a:p>
        </p:txBody>
      </p:sp>
      <p:sp>
        <p:nvSpPr>
          <p:cNvPr id="27" name="文本框 26">
            <a:extLst>
              <a:ext uri="{FF2B5EF4-FFF2-40B4-BE49-F238E27FC236}">
                <a16:creationId xmlns:a16="http://schemas.microsoft.com/office/drawing/2014/main" id="{2D1FD592-956A-287F-A612-B592FF2AE245}"/>
              </a:ext>
            </a:extLst>
          </p:cNvPr>
          <p:cNvSpPr txBox="1"/>
          <p:nvPr/>
        </p:nvSpPr>
        <p:spPr>
          <a:xfrm>
            <a:off x="6794880" y="6138154"/>
            <a:ext cx="1415772" cy="461665"/>
          </a:xfrm>
          <a:prstGeom prst="rect">
            <a:avLst/>
          </a:prstGeom>
          <a:noFill/>
        </p:spPr>
        <p:txBody>
          <a:bodyPr wrap="none" rtlCol="0">
            <a:spAutoFit/>
          </a:bodyPr>
          <a:lstStyle/>
          <a:p>
            <a:r>
              <a:rPr lang="zh-CN" altLang="en-US" sz="1200" b="1" dirty="0"/>
              <a:t>跨平台能力曾受限</a:t>
            </a:r>
          </a:p>
          <a:p>
            <a:r>
              <a:rPr lang="zh-CN" altLang="en-US" sz="1200" b="1" dirty="0"/>
              <a:t>微软生态依赖较强</a:t>
            </a:r>
          </a:p>
        </p:txBody>
      </p:sp>
      <p:sp>
        <p:nvSpPr>
          <p:cNvPr id="28" name="文本框 27">
            <a:extLst>
              <a:ext uri="{FF2B5EF4-FFF2-40B4-BE49-F238E27FC236}">
                <a16:creationId xmlns:a16="http://schemas.microsoft.com/office/drawing/2014/main" id="{E2E1E7F6-18C5-4CDC-226F-A79078C68694}"/>
              </a:ext>
            </a:extLst>
          </p:cNvPr>
          <p:cNvSpPr txBox="1"/>
          <p:nvPr/>
        </p:nvSpPr>
        <p:spPr>
          <a:xfrm>
            <a:off x="8507874" y="5453686"/>
            <a:ext cx="1770036" cy="461665"/>
          </a:xfrm>
          <a:prstGeom prst="rect">
            <a:avLst/>
          </a:prstGeom>
          <a:noFill/>
        </p:spPr>
        <p:txBody>
          <a:bodyPr wrap="none" rtlCol="0">
            <a:spAutoFit/>
          </a:bodyPr>
          <a:lstStyle/>
          <a:p>
            <a:r>
              <a:rPr lang="zh-CN" altLang="en-US" sz="1200" b="1" dirty="0"/>
              <a:t>原生并发，编译速度快</a:t>
            </a:r>
            <a:endParaRPr lang="en-US" altLang="zh-CN" sz="1200" b="1" dirty="0"/>
          </a:p>
          <a:p>
            <a:r>
              <a:rPr lang="zh-CN" altLang="en-US" sz="1200" b="1" dirty="0"/>
              <a:t>高性能，适合云原生</a:t>
            </a:r>
          </a:p>
        </p:txBody>
      </p:sp>
      <p:sp>
        <p:nvSpPr>
          <p:cNvPr id="29" name="文本框 28">
            <a:extLst>
              <a:ext uri="{FF2B5EF4-FFF2-40B4-BE49-F238E27FC236}">
                <a16:creationId xmlns:a16="http://schemas.microsoft.com/office/drawing/2014/main" id="{C278B609-E0B9-DBE1-168C-950E395F0A02}"/>
              </a:ext>
            </a:extLst>
          </p:cNvPr>
          <p:cNvSpPr txBox="1"/>
          <p:nvPr/>
        </p:nvSpPr>
        <p:spPr>
          <a:xfrm>
            <a:off x="8507874" y="6138542"/>
            <a:ext cx="1415772" cy="461665"/>
          </a:xfrm>
          <a:prstGeom prst="rect">
            <a:avLst/>
          </a:prstGeom>
          <a:noFill/>
        </p:spPr>
        <p:txBody>
          <a:bodyPr wrap="none" rtlCol="0">
            <a:spAutoFit/>
          </a:bodyPr>
          <a:lstStyle/>
          <a:p>
            <a:r>
              <a:rPr lang="zh-CN" altLang="en-US" sz="1200" b="1" dirty="0"/>
              <a:t>生态系统相对年轻</a:t>
            </a:r>
          </a:p>
          <a:p>
            <a:r>
              <a:rPr lang="zh-CN" altLang="en-US" sz="1200" b="1" dirty="0"/>
              <a:t>语言特性较为简洁</a:t>
            </a:r>
          </a:p>
        </p:txBody>
      </p:sp>
      <p:sp>
        <p:nvSpPr>
          <p:cNvPr id="30" name="文本框 29">
            <a:extLst>
              <a:ext uri="{FF2B5EF4-FFF2-40B4-BE49-F238E27FC236}">
                <a16:creationId xmlns:a16="http://schemas.microsoft.com/office/drawing/2014/main" id="{091CC5B8-2A8D-0409-9240-23B23FB7A2A1}"/>
              </a:ext>
            </a:extLst>
          </p:cNvPr>
          <p:cNvSpPr txBox="1"/>
          <p:nvPr/>
        </p:nvSpPr>
        <p:spPr>
          <a:xfrm>
            <a:off x="10348645" y="5453298"/>
            <a:ext cx="1947969" cy="646331"/>
          </a:xfrm>
          <a:prstGeom prst="rect">
            <a:avLst/>
          </a:prstGeom>
          <a:noFill/>
        </p:spPr>
        <p:txBody>
          <a:bodyPr wrap="none" rtlCol="0">
            <a:spAutoFit/>
          </a:bodyPr>
          <a:lstStyle/>
          <a:p>
            <a:r>
              <a:rPr lang="zh-CN" altLang="en-US" sz="1200" b="1" dirty="0"/>
              <a:t>原生智能化 、天生全场景 </a:t>
            </a:r>
            <a:endParaRPr lang="en-US" altLang="zh-CN" sz="1200" b="1" dirty="0"/>
          </a:p>
          <a:p>
            <a:r>
              <a:rPr lang="zh-CN" altLang="en-US" sz="1200" b="1" dirty="0"/>
              <a:t>高性能 、强安全 </a:t>
            </a:r>
            <a:endParaRPr lang="en-US" altLang="zh-CN" sz="1200" b="1" dirty="0"/>
          </a:p>
          <a:p>
            <a:r>
              <a:rPr lang="zh-CN" altLang="en-US" sz="1200" b="1" dirty="0"/>
              <a:t>为鸿蒙生态量身打造</a:t>
            </a:r>
          </a:p>
        </p:txBody>
      </p:sp>
      <p:sp>
        <p:nvSpPr>
          <p:cNvPr id="31" name="文本框 30">
            <a:extLst>
              <a:ext uri="{FF2B5EF4-FFF2-40B4-BE49-F238E27FC236}">
                <a16:creationId xmlns:a16="http://schemas.microsoft.com/office/drawing/2014/main" id="{1DB2EAE3-2FCF-1031-E645-8B535CF0CE2A}"/>
              </a:ext>
            </a:extLst>
          </p:cNvPr>
          <p:cNvSpPr txBox="1"/>
          <p:nvPr/>
        </p:nvSpPr>
        <p:spPr>
          <a:xfrm>
            <a:off x="10348645" y="6081882"/>
            <a:ext cx="1877437" cy="830997"/>
          </a:xfrm>
          <a:prstGeom prst="rect">
            <a:avLst/>
          </a:prstGeom>
          <a:noFill/>
        </p:spPr>
        <p:txBody>
          <a:bodyPr wrap="none" rtlCol="0">
            <a:spAutoFit/>
          </a:bodyPr>
          <a:lstStyle/>
          <a:p>
            <a:r>
              <a:rPr lang="zh-CN" altLang="en-US" sz="1200" b="1" dirty="0"/>
              <a:t>生态建设初期 </a:t>
            </a:r>
            <a:endParaRPr lang="en-US" altLang="zh-CN" sz="1200" b="1" dirty="0"/>
          </a:p>
          <a:p>
            <a:r>
              <a:rPr lang="zh-CN" altLang="en-US" sz="1200" b="1" dirty="0"/>
              <a:t>社区和第三方库待完善</a:t>
            </a:r>
            <a:endParaRPr lang="en-US" altLang="zh-CN" sz="1200" b="1" dirty="0"/>
          </a:p>
          <a:p>
            <a:r>
              <a:rPr lang="zh-CN" altLang="en-US" sz="1200" b="1" dirty="0"/>
              <a:t>学习资源和开发者认知度</a:t>
            </a:r>
            <a:endParaRPr lang="en-US" altLang="zh-CN" sz="1200" b="1" dirty="0"/>
          </a:p>
          <a:p>
            <a:r>
              <a:rPr lang="zh-CN" altLang="en-US" sz="1200" b="1" dirty="0"/>
              <a:t>需时间积累</a:t>
            </a:r>
          </a:p>
        </p:txBody>
      </p:sp>
      <p:sp>
        <p:nvSpPr>
          <p:cNvPr id="34" name="文本框 33">
            <a:extLst>
              <a:ext uri="{FF2B5EF4-FFF2-40B4-BE49-F238E27FC236}">
                <a16:creationId xmlns:a16="http://schemas.microsoft.com/office/drawing/2014/main" id="{58CF90F3-CBE5-9287-91B5-C4049A7054E6}"/>
              </a:ext>
            </a:extLst>
          </p:cNvPr>
          <p:cNvSpPr txBox="1"/>
          <p:nvPr/>
        </p:nvSpPr>
        <p:spPr>
          <a:xfrm>
            <a:off x="10419275" y="936822"/>
            <a:ext cx="543739" cy="307777"/>
          </a:xfrm>
          <a:prstGeom prst="rect">
            <a:avLst/>
          </a:prstGeom>
          <a:noFill/>
        </p:spPr>
        <p:txBody>
          <a:bodyPr wrap="none" rtlCol="0">
            <a:spAutoFit/>
          </a:bodyPr>
          <a:lstStyle/>
          <a:p>
            <a:r>
              <a:rPr lang="zh-CN" altLang="en-US" sz="1400" b="1" dirty="0"/>
              <a:t>仓颉</a:t>
            </a:r>
          </a:p>
        </p:txBody>
      </p:sp>
      <p:sp>
        <p:nvSpPr>
          <p:cNvPr id="35" name="文本框 34">
            <a:extLst>
              <a:ext uri="{FF2B5EF4-FFF2-40B4-BE49-F238E27FC236}">
                <a16:creationId xmlns:a16="http://schemas.microsoft.com/office/drawing/2014/main" id="{A887A929-C624-8F60-FC4E-6444447F91A9}"/>
              </a:ext>
            </a:extLst>
          </p:cNvPr>
          <p:cNvSpPr txBox="1"/>
          <p:nvPr/>
        </p:nvSpPr>
        <p:spPr>
          <a:xfrm>
            <a:off x="10419275" y="1787251"/>
            <a:ext cx="1806905" cy="523220"/>
          </a:xfrm>
          <a:prstGeom prst="rect">
            <a:avLst/>
          </a:prstGeom>
          <a:noFill/>
        </p:spPr>
        <p:txBody>
          <a:bodyPr wrap="none" rtlCol="0">
            <a:spAutoFit/>
          </a:bodyPr>
          <a:lstStyle/>
          <a:p>
            <a:r>
              <a:rPr lang="en-US" altLang="zh-CN" sz="1400" b="1" dirty="0"/>
              <a:t>2024</a:t>
            </a:r>
            <a:r>
              <a:rPr lang="zh-CN" altLang="en-US" sz="1400" b="1" dirty="0"/>
              <a:t>年（公开发布）</a:t>
            </a:r>
            <a:endParaRPr lang="en-US" altLang="zh-CN" sz="1400" b="1" dirty="0"/>
          </a:p>
          <a:p>
            <a:r>
              <a:rPr lang="en-US" altLang="zh-CN" sz="1400" b="1" dirty="0"/>
              <a:t>2025</a:t>
            </a:r>
            <a:r>
              <a:rPr lang="zh-CN" altLang="en-US" sz="1400" b="1" dirty="0"/>
              <a:t>年开源</a:t>
            </a:r>
          </a:p>
        </p:txBody>
      </p:sp>
      <p:sp>
        <p:nvSpPr>
          <p:cNvPr id="36" name="文本框 35">
            <a:extLst>
              <a:ext uri="{FF2B5EF4-FFF2-40B4-BE49-F238E27FC236}">
                <a16:creationId xmlns:a16="http://schemas.microsoft.com/office/drawing/2014/main" id="{C9A7903E-FD75-88B3-897B-2C7CEFAD37B5}"/>
              </a:ext>
            </a:extLst>
          </p:cNvPr>
          <p:cNvSpPr txBox="1"/>
          <p:nvPr/>
        </p:nvSpPr>
        <p:spPr>
          <a:xfrm>
            <a:off x="10393169" y="1404787"/>
            <a:ext cx="902811" cy="307777"/>
          </a:xfrm>
          <a:prstGeom prst="rect">
            <a:avLst/>
          </a:prstGeom>
          <a:noFill/>
        </p:spPr>
        <p:txBody>
          <a:bodyPr wrap="none" rtlCol="0">
            <a:spAutoFit/>
          </a:bodyPr>
          <a:lstStyle/>
          <a:p>
            <a:r>
              <a:rPr lang="zh-CN" altLang="en-US" sz="1400" b="1" dirty="0"/>
              <a:t>新兴语言</a:t>
            </a:r>
          </a:p>
        </p:txBody>
      </p:sp>
      <p:sp>
        <p:nvSpPr>
          <p:cNvPr id="38" name="文本框 37">
            <a:extLst>
              <a:ext uri="{FF2B5EF4-FFF2-40B4-BE49-F238E27FC236}">
                <a16:creationId xmlns:a16="http://schemas.microsoft.com/office/drawing/2014/main" id="{9DECF38F-3411-B11E-5371-A77F31CE949A}"/>
              </a:ext>
            </a:extLst>
          </p:cNvPr>
          <p:cNvSpPr txBox="1"/>
          <p:nvPr/>
        </p:nvSpPr>
        <p:spPr>
          <a:xfrm>
            <a:off x="10423615" y="2448911"/>
            <a:ext cx="1851789" cy="738664"/>
          </a:xfrm>
          <a:prstGeom prst="rect">
            <a:avLst/>
          </a:prstGeom>
          <a:noFill/>
        </p:spPr>
        <p:txBody>
          <a:bodyPr wrap="none" rtlCol="0">
            <a:spAutoFit/>
          </a:bodyPr>
          <a:lstStyle/>
          <a:p>
            <a:r>
              <a:rPr lang="zh-CN" altLang="en-US" sz="1400" b="1" dirty="0"/>
              <a:t>原生</a:t>
            </a:r>
            <a:r>
              <a:rPr lang="en-US" altLang="zh-CN" sz="1400" b="1" dirty="0"/>
              <a:t>AI</a:t>
            </a:r>
            <a:r>
              <a:rPr lang="zh-CN" altLang="en-US" sz="1400" b="1" dirty="0"/>
              <a:t>与</a:t>
            </a:r>
            <a:r>
              <a:rPr lang="en-US" altLang="zh-CN" sz="1400" b="1" dirty="0"/>
              <a:t>DSL</a:t>
            </a:r>
            <a:r>
              <a:rPr lang="zh-CN" altLang="en-US" sz="1400" b="1" dirty="0"/>
              <a:t>框架</a:t>
            </a:r>
            <a:endParaRPr lang="en-US" altLang="zh-CN" sz="1400" b="1" dirty="0"/>
          </a:p>
          <a:p>
            <a:r>
              <a:rPr lang="en-US" altLang="zh-CN" sz="1400" b="1" dirty="0" err="1"/>
              <a:t>CangjieMagic</a:t>
            </a:r>
            <a:r>
              <a:rPr lang="en-US" altLang="zh-CN" sz="1400" b="1" dirty="0"/>
              <a:t>(Agent)</a:t>
            </a:r>
          </a:p>
          <a:p>
            <a:r>
              <a:rPr lang="en-US" altLang="zh-CN" sz="1400" b="1" dirty="0" err="1"/>
              <a:t>OpenCangjie</a:t>
            </a:r>
            <a:r>
              <a:rPr lang="en-US" altLang="zh-CN" sz="1400" b="1" dirty="0"/>
              <a:t>(AI+</a:t>
            </a:r>
            <a:r>
              <a:rPr lang="zh-CN" altLang="en-US" sz="1400" b="1" dirty="0"/>
              <a:t>全栈</a:t>
            </a:r>
            <a:r>
              <a:rPr lang="en-US" altLang="zh-CN" sz="1400" b="1" dirty="0"/>
              <a:t>)</a:t>
            </a:r>
            <a:endParaRPr lang="zh-CN" altLang="en-US" sz="1400" b="1" dirty="0"/>
          </a:p>
        </p:txBody>
      </p:sp>
      <p:sp>
        <p:nvSpPr>
          <p:cNvPr id="39" name="文本框 38">
            <a:extLst>
              <a:ext uri="{FF2B5EF4-FFF2-40B4-BE49-F238E27FC236}">
                <a16:creationId xmlns:a16="http://schemas.microsoft.com/office/drawing/2014/main" id="{32B63886-8276-D267-5428-9542663BE56F}"/>
              </a:ext>
            </a:extLst>
          </p:cNvPr>
          <p:cNvSpPr txBox="1"/>
          <p:nvPr/>
        </p:nvSpPr>
        <p:spPr>
          <a:xfrm>
            <a:off x="10488818" y="3556917"/>
            <a:ext cx="1733167" cy="523220"/>
          </a:xfrm>
          <a:prstGeom prst="rect">
            <a:avLst/>
          </a:prstGeom>
          <a:noFill/>
        </p:spPr>
        <p:txBody>
          <a:bodyPr wrap="none" rtlCol="0">
            <a:spAutoFit/>
          </a:bodyPr>
          <a:lstStyle/>
          <a:p>
            <a:r>
              <a:rPr lang="zh-CN" altLang="en-US" sz="1400" b="1" dirty="0"/>
              <a:t>华为</a:t>
            </a:r>
            <a:endParaRPr lang="en-US" altLang="zh-CN" sz="1400" b="1" dirty="0"/>
          </a:p>
          <a:p>
            <a:r>
              <a:rPr lang="en-US" altLang="zh-CN" sz="1400" b="1" dirty="0" err="1"/>
              <a:t>OpenCangjie</a:t>
            </a:r>
            <a:r>
              <a:rPr lang="zh-CN" altLang="en-US" sz="1400" b="1" dirty="0"/>
              <a:t>基金会</a:t>
            </a:r>
            <a:endParaRPr lang="en-US" altLang="zh-CN" sz="1400" b="1" dirty="0"/>
          </a:p>
        </p:txBody>
      </p:sp>
      <p:sp>
        <p:nvSpPr>
          <p:cNvPr id="40" name="文本框 39">
            <a:extLst>
              <a:ext uri="{FF2B5EF4-FFF2-40B4-BE49-F238E27FC236}">
                <a16:creationId xmlns:a16="http://schemas.microsoft.com/office/drawing/2014/main" id="{6D915D35-6398-63AE-46A3-A0AEF7E55E17}"/>
              </a:ext>
            </a:extLst>
          </p:cNvPr>
          <p:cNvSpPr txBox="1"/>
          <p:nvPr/>
        </p:nvSpPr>
        <p:spPr>
          <a:xfrm>
            <a:off x="10488818" y="4570906"/>
            <a:ext cx="1571264" cy="523220"/>
          </a:xfrm>
          <a:prstGeom prst="rect">
            <a:avLst/>
          </a:prstGeom>
          <a:noFill/>
        </p:spPr>
        <p:txBody>
          <a:bodyPr wrap="none" rtlCol="0">
            <a:spAutoFit/>
          </a:bodyPr>
          <a:lstStyle/>
          <a:p>
            <a:r>
              <a:rPr lang="zh-CN" altLang="en-US" sz="1400" b="1" dirty="0"/>
              <a:t>已开源</a:t>
            </a:r>
            <a:r>
              <a:rPr lang="en-US" altLang="zh-CN" sz="1400" b="1" dirty="0"/>
              <a:t>(2025.7.30)</a:t>
            </a:r>
          </a:p>
          <a:p>
            <a:r>
              <a:rPr lang="en-US" altLang="zh-CN" sz="1400" b="1" dirty="0"/>
              <a:t>Apache 2.0</a:t>
            </a:r>
          </a:p>
        </p:txBody>
      </p:sp>
      <p:pic>
        <p:nvPicPr>
          <p:cNvPr id="4" name="图片 3">
            <a:extLst>
              <a:ext uri="{FF2B5EF4-FFF2-40B4-BE49-F238E27FC236}">
                <a16:creationId xmlns:a16="http://schemas.microsoft.com/office/drawing/2014/main" id="{88D71524-9FFB-BACC-AE9B-831E9EEF528D}"/>
              </a:ext>
            </a:extLst>
          </p:cNvPr>
          <p:cNvPicPr>
            <a:picLocks noChangeAspect="1"/>
          </p:cNvPicPr>
          <p:nvPr/>
        </p:nvPicPr>
        <p:blipFill>
          <a:blip r:embed="rId6"/>
          <a:stretch>
            <a:fillRect/>
          </a:stretch>
        </p:blipFill>
        <p:spPr>
          <a:xfrm>
            <a:off x="5156393" y="929101"/>
            <a:ext cx="1952381" cy="4523809"/>
          </a:xfrm>
          <a:prstGeom prst="rect">
            <a:avLst/>
          </a:prstGeom>
        </p:spPr>
      </p:pic>
      <p:pic>
        <p:nvPicPr>
          <p:cNvPr id="5" name="图片 4">
            <a:extLst>
              <a:ext uri="{FF2B5EF4-FFF2-40B4-BE49-F238E27FC236}">
                <a16:creationId xmlns:a16="http://schemas.microsoft.com/office/drawing/2014/main" id="{427DC9B4-7C44-52CE-1634-81BCC0E1F5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72855" y="936822"/>
            <a:ext cx="1952625" cy="4514850"/>
          </a:xfrm>
          <a:prstGeom prst="rect">
            <a:avLst/>
          </a:prstGeom>
        </p:spPr>
      </p:pic>
      <p:pic>
        <p:nvPicPr>
          <p:cNvPr id="15" name="图片 14">
            <a:extLst>
              <a:ext uri="{FF2B5EF4-FFF2-40B4-BE49-F238E27FC236}">
                <a16:creationId xmlns:a16="http://schemas.microsoft.com/office/drawing/2014/main" id="{4A5016E0-34FD-FF49-77C3-4BC8014F5670}"/>
              </a:ext>
            </a:extLst>
          </p:cNvPr>
          <p:cNvPicPr>
            <a:picLocks noChangeAspect="1"/>
          </p:cNvPicPr>
          <p:nvPr/>
        </p:nvPicPr>
        <p:blipFill>
          <a:blip r:embed="rId8"/>
          <a:stretch>
            <a:fillRect/>
          </a:stretch>
        </p:blipFill>
        <p:spPr>
          <a:xfrm>
            <a:off x="6907455" y="962358"/>
            <a:ext cx="1742857" cy="4476190"/>
          </a:xfrm>
          <a:prstGeom prst="rect">
            <a:avLst/>
          </a:prstGeom>
        </p:spPr>
      </p:pic>
    </p:spTree>
    <p:extLst>
      <p:ext uri="{BB962C8B-B14F-4D97-AF65-F5344CB8AC3E}">
        <p14:creationId xmlns:p14="http://schemas.microsoft.com/office/powerpoint/2010/main" val="2518106924"/>
      </p:ext>
    </p:extLst>
  </p:cSld>
  <p:clrMapOvr>
    <a:masterClrMapping/>
  </p:clrMapOvr>
  <mc:AlternateContent xmlns:mc="http://schemas.openxmlformats.org/markup-compatibility/2006" xmlns:p14="http://schemas.microsoft.com/office/powerpoint/2010/main">
    <mc:Choice Requires="p14">
      <p:transition p14:dur="0" advTm="1118"/>
    </mc:Choice>
    <mc:Fallback xmlns="">
      <p:transition advTm="111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40556" y="168396"/>
            <a:ext cx="11734297" cy="677108"/>
          </a:xfrm>
          <a:prstGeom prst="rect">
            <a:avLst/>
          </a:prstGeom>
          <a:noFill/>
          <a:ln w="9525">
            <a:noFill/>
            <a:miter lim="800000"/>
          </a:ln>
        </p:spPr>
        <p:txBody>
          <a:bodyPr wrap="square" lIns="60960" tIns="30480" rIns="60960" bIns="30480">
            <a:spAutoFit/>
          </a:bodyPr>
          <a:lstStyle/>
          <a:p>
            <a:pPr algn="ctr" defTabSz="1450358"/>
            <a:r>
              <a:rPr lang="zh-CN" altLang="en-US" sz="4000" b="1" dirty="0">
                <a:solidFill>
                  <a:srgbClr val="333333"/>
                </a:solidFill>
                <a:latin typeface="Microsoft YaHei" pitchFamily="34" charset="0"/>
                <a:ea typeface="Microsoft YaHei" pitchFamily="34" charset="-122"/>
              </a:rPr>
              <a:t>主要特性</a:t>
            </a:r>
            <a:endParaRPr lang="en-CA" sz="4000" b="1" dirty="0">
              <a:solidFill>
                <a:srgbClr val="333333"/>
              </a:solidFill>
              <a:latin typeface="Microsoft YaHei" pitchFamily="34" charset="0"/>
              <a:ea typeface="Microsoft YaHei" pitchFamily="34" charset="-122"/>
            </a:endParaRPr>
          </a:p>
        </p:txBody>
      </p:sp>
      <p:sp>
        <p:nvSpPr>
          <p:cNvPr id="26" name="矩形 25"/>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3" name="Text 1">
            <a:extLst>
              <a:ext uri="{FF2B5EF4-FFF2-40B4-BE49-F238E27FC236}">
                <a16:creationId xmlns:a16="http://schemas.microsoft.com/office/drawing/2014/main" id="{B53A24BD-2CBD-C858-9551-2AACE52525EA}"/>
              </a:ext>
            </a:extLst>
          </p:cNvPr>
          <p:cNvSpPr/>
          <p:nvPr/>
        </p:nvSpPr>
        <p:spPr>
          <a:xfrm>
            <a:off x="1907204" y="845504"/>
            <a:ext cx="8001000" cy="40005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以仓颉语言为基石，融合原生智能、高性能、强安全三大特性</a:t>
            </a:r>
            <a:endParaRPr lang="en-US" sz="2250" dirty="0"/>
          </a:p>
        </p:txBody>
      </p:sp>
      <p:pic>
        <p:nvPicPr>
          <p:cNvPr id="5" name="图片 4">
            <a:extLst>
              <a:ext uri="{FF2B5EF4-FFF2-40B4-BE49-F238E27FC236}">
                <a16:creationId xmlns:a16="http://schemas.microsoft.com/office/drawing/2014/main" id="{3AF9F732-7762-53F9-641F-C508FB9E51AA}"/>
              </a:ext>
            </a:extLst>
          </p:cNvPr>
          <p:cNvPicPr>
            <a:picLocks noChangeAspect="1"/>
          </p:cNvPicPr>
          <p:nvPr/>
        </p:nvPicPr>
        <p:blipFill>
          <a:blip r:embed="rId2"/>
          <a:stretch>
            <a:fillRect/>
          </a:stretch>
        </p:blipFill>
        <p:spPr>
          <a:xfrm>
            <a:off x="19877" y="1408923"/>
            <a:ext cx="3152532" cy="4617344"/>
          </a:xfrm>
          <a:prstGeom prst="rect">
            <a:avLst/>
          </a:prstGeom>
        </p:spPr>
      </p:pic>
      <p:pic>
        <p:nvPicPr>
          <p:cNvPr id="7" name="图片 6">
            <a:extLst>
              <a:ext uri="{FF2B5EF4-FFF2-40B4-BE49-F238E27FC236}">
                <a16:creationId xmlns:a16="http://schemas.microsoft.com/office/drawing/2014/main" id="{71A94D34-4E92-E198-47A5-51E66076D8B8}"/>
              </a:ext>
            </a:extLst>
          </p:cNvPr>
          <p:cNvPicPr>
            <a:picLocks noChangeAspect="1"/>
          </p:cNvPicPr>
          <p:nvPr/>
        </p:nvPicPr>
        <p:blipFill>
          <a:blip r:embed="rId3"/>
          <a:stretch>
            <a:fillRect/>
          </a:stretch>
        </p:blipFill>
        <p:spPr>
          <a:xfrm>
            <a:off x="3172409" y="1368120"/>
            <a:ext cx="4605727" cy="4644376"/>
          </a:xfrm>
          <a:prstGeom prst="rect">
            <a:avLst/>
          </a:prstGeom>
        </p:spPr>
      </p:pic>
      <p:pic>
        <p:nvPicPr>
          <p:cNvPr id="9" name="图片 8">
            <a:extLst>
              <a:ext uri="{FF2B5EF4-FFF2-40B4-BE49-F238E27FC236}">
                <a16:creationId xmlns:a16="http://schemas.microsoft.com/office/drawing/2014/main" id="{B3D39567-B185-DB66-EFA5-173AA96B88C5}"/>
              </a:ext>
            </a:extLst>
          </p:cNvPr>
          <p:cNvPicPr>
            <a:picLocks noChangeAspect="1"/>
          </p:cNvPicPr>
          <p:nvPr/>
        </p:nvPicPr>
        <p:blipFill>
          <a:blip r:embed="rId4"/>
          <a:stretch>
            <a:fillRect/>
          </a:stretch>
        </p:blipFill>
        <p:spPr>
          <a:xfrm>
            <a:off x="7778136" y="1368120"/>
            <a:ext cx="4370377" cy="478660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advTm="26377"/>
    </mc:Choice>
    <mc:Fallback xmlns="">
      <p:transition advClick="0" advTm="2637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40556" y="150810"/>
            <a:ext cx="11734297"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行业理解</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矩形 25"/>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4" name="500美元以上全球高端智能手机市场份额稳步增长">
            <a:extLst>
              <a:ext uri="{FF2B5EF4-FFF2-40B4-BE49-F238E27FC236}">
                <a16:creationId xmlns:a16="http://schemas.microsoft.com/office/drawing/2014/main" id="{2B1CE517-89A8-8C67-307F-F504AB74AC26}"/>
              </a:ext>
            </a:extLst>
          </p:cNvPr>
          <p:cNvSpPr txBox="1"/>
          <p:nvPr/>
        </p:nvSpPr>
        <p:spPr>
          <a:xfrm>
            <a:off x="97932" y="779532"/>
            <a:ext cx="11923493" cy="5562751"/>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zh-CN" altLang="en-US" sz="1600" dirty="0">
                <a:sym typeface="+mn-ea"/>
              </a:rPr>
              <a:t>1）目前主流编程语言的主流开发框架基本全部是国外产品，亟需与综合国力相匹配的数字基建基础设施。当前国产框架呈现两大趋势：一是</a:t>
            </a:r>
            <a:r>
              <a:rPr lang="en-US" altLang="zh-CN" sz="1600" dirty="0">
                <a:sym typeface="+mn-ea"/>
              </a:rPr>
              <a:t>AI</a:t>
            </a:r>
            <a:r>
              <a:rPr lang="zh-CN" altLang="en-US" sz="1600" dirty="0">
                <a:sym typeface="+mn-ea"/>
              </a:rPr>
              <a:t>融合（如自然语言编程提升效率</a:t>
            </a:r>
            <a:r>
              <a:rPr lang="en-US" altLang="zh-CN" sz="1600" dirty="0">
                <a:sym typeface="+mn-ea"/>
              </a:rPr>
              <a:t>5-8</a:t>
            </a:r>
            <a:r>
              <a:rPr lang="zh-CN" altLang="en-US" sz="1600" dirty="0">
                <a:sym typeface="+mn-ea"/>
              </a:rPr>
              <a:t>倍）‌，二是信创合规成为硬性指标</a:t>
            </a:r>
          </a:p>
          <a:p>
            <a:pPr>
              <a:lnSpc>
                <a:spcPct val="200000"/>
              </a:lnSpc>
            </a:pPr>
            <a:r>
              <a:rPr lang="zh-CN" altLang="en-US" sz="1600" dirty="0">
                <a:sym typeface="+mn-ea"/>
              </a:rPr>
              <a:t>2）</a:t>
            </a:r>
            <a:r>
              <a:rPr lang="en-US" altLang="zh-CN" sz="1600" dirty="0">
                <a:solidFill>
                  <a:srgbClr val="FF0000"/>
                </a:solidFill>
                <a:sym typeface="+mn-ea"/>
              </a:rPr>
              <a:t> AI</a:t>
            </a:r>
            <a:r>
              <a:rPr lang="zh-CN" altLang="en-US" sz="1600" dirty="0">
                <a:solidFill>
                  <a:srgbClr val="FF0000"/>
                </a:solidFill>
                <a:sym typeface="+mn-ea"/>
              </a:rPr>
              <a:t>生产力</a:t>
            </a:r>
            <a:r>
              <a:rPr lang="en-US" altLang="zh-CN" sz="1600" dirty="0">
                <a:solidFill>
                  <a:srgbClr val="FF0000"/>
                </a:solidFill>
                <a:sym typeface="+mn-ea"/>
              </a:rPr>
              <a:t>= AI IDE+</a:t>
            </a:r>
            <a:r>
              <a:rPr lang="zh-CN" altLang="en-US" sz="1600" dirty="0">
                <a:solidFill>
                  <a:srgbClr val="FF0000"/>
                </a:solidFill>
                <a:sym typeface="+mn-ea"/>
              </a:rPr>
              <a:t>高智大模型</a:t>
            </a:r>
            <a:r>
              <a:rPr lang="en-US" altLang="zh-CN" sz="1600" dirty="0">
                <a:solidFill>
                  <a:srgbClr val="FF0000"/>
                </a:solidFill>
                <a:sym typeface="+mn-ea"/>
              </a:rPr>
              <a:t>+AI</a:t>
            </a:r>
            <a:r>
              <a:rPr lang="zh-CN" altLang="en-US" sz="1600" dirty="0">
                <a:solidFill>
                  <a:srgbClr val="FF0000"/>
                </a:solidFill>
                <a:sym typeface="+mn-ea"/>
              </a:rPr>
              <a:t>驱动开发框架  </a:t>
            </a:r>
            <a:r>
              <a:rPr lang="en-US" altLang="zh-CN" sz="1600" dirty="0">
                <a:sym typeface="+mn-ea"/>
              </a:rPr>
              <a:t>AI</a:t>
            </a:r>
            <a:r>
              <a:rPr lang="zh-CN" altLang="en-US" sz="1600" dirty="0">
                <a:sym typeface="+mn-ea"/>
              </a:rPr>
              <a:t>时代的编程模式发生了根本的变化，提高</a:t>
            </a:r>
            <a:r>
              <a:rPr lang="en-US" altLang="zh-CN" sz="1600" dirty="0">
                <a:sym typeface="+mn-ea"/>
              </a:rPr>
              <a:t>AI</a:t>
            </a:r>
            <a:r>
              <a:rPr lang="zh-CN" altLang="en-US" sz="1600" dirty="0">
                <a:sym typeface="+mn-ea"/>
              </a:rPr>
              <a:t>生产力是一项系统工程。</a:t>
            </a:r>
            <a:r>
              <a:rPr lang="en-US" altLang="zh-CN" sz="1600" dirty="0">
                <a:sym typeface="+mn-ea"/>
              </a:rPr>
              <a:t>AI IDE</a:t>
            </a:r>
            <a:r>
              <a:rPr lang="zh-CN" altLang="en-US" sz="1600" dirty="0">
                <a:sym typeface="+mn-ea"/>
              </a:rPr>
              <a:t>（</a:t>
            </a:r>
            <a:r>
              <a:rPr lang="en-US" altLang="zh-CN" sz="1600" dirty="0" err="1">
                <a:sym typeface="+mn-ea"/>
              </a:rPr>
              <a:t>Qoder</a:t>
            </a:r>
            <a:r>
              <a:rPr lang="zh-CN" altLang="en-US" sz="1600" dirty="0">
                <a:sym typeface="+mn-ea"/>
              </a:rPr>
              <a:t>、</a:t>
            </a:r>
            <a:r>
              <a:rPr lang="en-US" altLang="zh-CN" sz="1600" dirty="0">
                <a:sym typeface="+mn-ea"/>
              </a:rPr>
              <a:t>TRAE</a:t>
            </a:r>
            <a:r>
              <a:rPr lang="zh-CN" altLang="en-US" sz="1600" dirty="0">
                <a:sym typeface="+mn-ea"/>
              </a:rPr>
              <a:t>、</a:t>
            </a:r>
            <a:r>
              <a:rPr lang="en-US" altLang="zh-CN" sz="1600" dirty="0" err="1">
                <a:sym typeface="+mn-ea"/>
              </a:rPr>
              <a:t>CodeBuddy</a:t>
            </a:r>
            <a:r>
              <a:rPr lang="zh-CN" altLang="en-US" sz="1600" dirty="0">
                <a:sym typeface="+mn-ea"/>
              </a:rPr>
              <a:t>）、大模型（</a:t>
            </a:r>
            <a:r>
              <a:rPr lang="en-US" altLang="zh-CN" sz="1600" dirty="0">
                <a:sym typeface="+mn-ea"/>
              </a:rPr>
              <a:t>DeepSeek</a:t>
            </a:r>
            <a:r>
              <a:rPr lang="zh-CN" altLang="en-US" sz="1600" dirty="0">
                <a:sym typeface="+mn-ea"/>
              </a:rPr>
              <a:t>、</a:t>
            </a:r>
            <a:r>
              <a:rPr lang="en-US" altLang="zh-CN" sz="1600" dirty="0">
                <a:sym typeface="+mn-ea"/>
              </a:rPr>
              <a:t>Qwen</a:t>
            </a:r>
            <a:r>
              <a:rPr lang="zh-CN" altLang="en-US" sz="1600" dirty="0">
                <a:sym typeface="+mn-ea"/>
              </a:rPr>
              <a:t>、盘古）、开发框架（亟待填补空白）</a:t>
            </a:r>
            <a:endParaRPr lang="zh-CN" altLang="en-US" sz="1001" dirty="0">
              <a:sym typeface="+mn-ea"/>
            </a:endParaRPr>
          </a:p>
          <a:p>
            <a:pPr>
              <a:lnSpc>
                <a:spcPct val="200000"/>
              </a:lnSpc>
            </a:pPr>
            <a:r>
              <a:rPr lang="zh-CN" altLang="en-US" sz="1600" dirty="0">
                <a:sym typeface="+mn-ea"/>
              </a:rPr>
              <a:t>3）‌最流行的前端框架</a:t>
            </a:r>
            <a:r>
              <a:rPr lang="en-US" altLang="zh-CN" sz="1600" dirty="0">
                <a:sym typeface="+mn-ea"/>
              </a:rPr>
              <a:t>React</a:t>
            </a:r>
            <a:r>
              <a:rPr lang="zh-CN" altLang="en-US" sz="1600" dirty="0">
                <a:sym typeface="+mn-ea"/>
              </a:rPr>
              <a:t>，刚从</a:t>
            </a:r>
            <a:r>
              <a:rPr lang="en-US" altLang="zh-CN" sz="1600" dirty="0">
                <a:sym typeface="+mn-ea"/>
              </a:rPr>
              <a:t>Meta</a:t>
            </a:r>
            <a:r>
              <a:rPr lang="zh-CN" altLang="en-US" sz="1600" dirty="0">
                <a:sym typeface="+mn-ea"/>
              </a:rPr>
              <a:t>独立出来，成立了</a:t>
            </a:r>
            <a:r>
              <a:rPr lang="en-US" altLang="zh-CN" sz="1600" dirty="0">
                <a:sym typeface="+mn-ea"/>
              </a:rPr>
              <a:t>React</a:t>
            </a:r>
            <a:r>
              <a:rPr lang="zh-CN" altLang="en-US" sz="1600" dirty="0">
                <a:sym typeface="+mn-ea"/>
              </a:rPr>
              <a:t>基金会，并将纳入</a:t>
            </a:r>
            <a:r>
              <a:rPr lang="en-US" altLang="zh-CN" sz="1600" dirty="0">
                <a:sym typeface="+mn-ea"/>
              </a:rPr>
              <a:t>Linux</a:t>
            </a:r>
            <a:r>
              <a:rPr lang="zh-CN" altLang="en-US" sz="1600" dirty="0">
                <a:sym typeface="+mn-ea"/>
              </a:rPr>
              <a:t>基金会托管。最受欢迎前端框架</a:t>
            </a:r>
            <a:r>
              <a:rPr lang="en-US" altLang="zh-CN" sz="1600" dirty="0">
                <a:sym typeface="+mn-ea"/>
              </a:rPr>
              <a:t>VUE</a:t>
            </a:r>
            <a:r>
              <a:rPr lang="zh-CN" altLang="en-US" sz="1600" dirty="0">
                <a:sym typeface="+mn-ea"/>
              </a:rPr>
              <a:t>创始人尤雨溪（</a:t>
            </a:r>
            <a:r>
              <a:rPr lang="en-US" altLang="zh-CN" sz="1600" dirty="0">
                <a:sym typeface="+mn-ea"/>
              </a:rPr>
              <a:t>2024.10</a:t>
            </a:r>
            <a:r>
              <a:rPr lang="zh-CN" altLang="en-US" sz="1600" dirty="0">
                <a:sym typeface="+mn-ea"/>
              </a:rPr>
              <a:t>种子轮融资</a:t>
            </a:r>
            <a:r>
              <a:rPr lang="en-US" altLang="zh-CN" sz="1600" dirty="0">
                <a:sym typeface="+mn-ea"/>
              </a:rPr>
              <a:t>460</a:t>
            </a:r>
            <a:r>
              <a:rPr lang="zh-CN" altLang="en-US" sz="1600" dirty="0">
                <a:sym typeface="+mn-ea"/>
              </a:rPr>
              <a:t>万美元、</a:t>
            </a:r>
            <a:r>
              <a:rPr lang="en-US" altLang="zh-CN" sz="1600" dirty="0">
                <a:sym typeface="+mn-ea"/>
              </a:rPr>
              <a:t>2025.10A</a:t>
            </a:r>
            <a:r>
              <a:rPr lang="zh-CN" altLang="en-US" sz="1600" dirty="0">
                <a:sym typeface="+mn-ea"/>
              </a:rPr>
              <a:t>轮融资</a:t>
            </a:r>
            <a:r>
              <a:rPr lang="en-US" altLang="zh-CN" sz="1600" dirty="0">
                <a:sym typeface="+mn-ea"/>
              </a:rPr>
              <a:t>1250</a:t>
            </a:r>
            <a:r>
              <a:rPr lang="zh-CN" altLang="en-US" sz="1600" dirty="0">
                <a:sym typeface="+mn-ea"/>
              </a:rPr>
              <a:t>万美元）成立新公司</a:t>
            </a:r>
            <a:r>
              <a:rPr lang="en-US" altLang="zh-CN" sz="1600" dirty="0" err="1">
                <a:sym typeface="+mn-ea"/>
              </a:rPr>
              <a:t>VoidZero</a:t>
            </a:r>
            <a:r>
              <a:rPr lang="zh-CN" altLang="en-US" sz="1600" dirty="0">
                <a:sym typeface="+mn-ea"/>
              </a:rPr>
              <a:t>打造下一代</a:t>
            </a:r>
            <a:r>
              <a:rPr lang="en-US" altLang="zh-CN" sz="1600" dirty="0">
                <a:sym typeface="+mn-ea"/>
              </a:rPr>
              <a:t>JavaScript</a:t>
            </a:r>
            <a:r>
              <a:rPr lang="zh-CN" altLang="en-US" sz="1600" dirty="0">
                <a:sym typeface="+mn-ea"/>
              </a:rPr>
              <a:t>工具链。个人观点，鉴于</a:t>
            </a:r>
            <a:r>
              <a:rPr lang="en-US" altLang="zh-CN" sz="1600" dirty="0">
                <a:sym typeface="+mn-ea"/>
              </a:rPr>
              <a:t>AI</a:t>
            </a:r>
            <a:r>
              <a:rPr lang="zh-CN" altLang="en-US" sz="1600" dirty="0">
                <a:sym typeface="+mn-ea"/>
              </a:rPr>
              <a:t>对前端开发的替代，研发前端智能化方向也许更具价值，即</a:t>
            </a:r>
            <a:r>
              <a:rPr lang="en-US" altLang="zh-CN" sz="1600" dirty="0">
                <a:sym typeface="+mn-ea"/>
              </a:rPr>
              <a:t>AI</a:t>
            </a:r>
            <a:r>
              <a:rPr lang="zh-CN" altLang="en-US" sz="1600" dirty="0">
                <a:sym typeface="+mn-ea"/>
              </a:rPr>
              <a:t>原生可操控一切</a:t>
            </a:r>
            <a:r>
              <a:rPr lang="en-US" altLang="zh-CN" sz="1600" dirty="0">
                <a:sym typeface="+mn-ea"/>
              </a:rPr>
              <a:t>UI</a:t>
            </a:r>
            <a:r>
              <a:rPr lang="zh-CN" altLang="en-US" sz="1600" dirty="0">
                <a:sym typeface="+mn-ea"/>
              </a:rPr>
              <a:t>界面，更有颠覆性创新机会</a:t>
            </a:r>
            <a:endParaRPr lang="en-US" altLang="zh-CN" sz="1600" dirty="0">
              <a:sym typeface="+mn-ea"/>
            </a:endParaRPr>
          </a:p>
          <a:p>
            <a:pPr>
              <a:lnSpc>
                <a:spcPct val="200000"/>
              </a:lnSpc>
            </a:pPr>
            <a:r>
              <a:rPr lang="en-US" altLang="zh-CN" sz="1600" dirty="0">
                <a:sym typeface="+mn-ea"/>
              </a:rPr>
              <a:t>4</a:t>
            </a:r>
            <a:r>
              <a:rPr lang="zh-CN" altLang="en-US" sz="1600" dirty="0">
                <a:sym typeface="+mn-ea"/>
              </a:rPr>
              <a:t>）</a:t>
            </a:r>
            <a:r>
              <a:rPr lang="en-US" altLang="zh-CN" sz="1600" dirty="0">
                <a:sym typeface="+mn-ea"/>
              </a:rPr>
              <a:t>Bun</a:t>
            </a:r>
            <a:r>
              <a:rPr lang="zh-CN" altLang="en-US" sz="1600" dirty="0">
                <a:sym typeface="+mn-ea"/>
              </a:rPr>
              <a:t>框架于</a:t>
            </a:r>
            <a:r>
              <a:rPr lang="en-US" altLang="zh-CN" sz="1600" dirty="0">
                <a:sym typeface="+mn-ea"/>
              </a:rPr>
              <a:t>2025</a:t>
            </a:r>
            <a:r>
              <a:rPr lang="zh-CN" altLang="en-US" sz="1600" dirty="0">
                <a:sym typeface="+mn-ea"/>
              </a:rPr>
              <a:t>年</a:t>
            </a:r>
            <a:r>
              <a:rPr lang="en-US" altLang="zh-CN" sz="1600" dirty="0">
                <a:sym typeface="+mn-ea"/>
              </a:rPr>
              <a:t>12</a:t>
            </a:r>
            <a:r>
              <a:rPr lang="zh-CN" altLang="en-US" sz="1600" dirty="0">
                <a:sym typeface="+mn-ea"/>
              </a:rPr>
              <a:t>月</a:t>
            </a:r>
            <a:r>
              <a:rPr lang="en-US" altLang="zh-CN" sz="1600" dirty="0">
                <a:sym typeface="+mn-ea"/>
              </a:rPr>
              <a:t>2</a:t>
            </a:r>
            <a:r>
              <a:rPr lang="zh-CN" altLang="en-US" sz="1600" dirty="0">
                <a:sym typeface="+mn-ea"/>
              </a:rPr>
              <a:t>日被</a:t>
            </a:r>
            <a:r>
              <a:rPr lang="en-US" altLang="zh-CN" sz="1600" dirty="0">
                <a:sym typeface="+mn-ea"/>
              </a:rPr>
              <a:t>AI</a:t>
            </a:r>
            <a:r>
              <a:rPr lang="zh-CN" altLang="en-US" sz="1600" dirty="0">
                <a:sym typeface="+mn-ea"/>
              </a:rPr>
              <a:t>公司</a:t>
            </a:r>
            <a:r>
              <a:rPr lang="en-US" altLang="zh-CN" sz="1600" dirty="0">
                <a:sym typeface="+mn-ea"/>
              </a:rPr>
              <a:t>Anthropic</a:t>
            </a:r>
            <a:r>
              <a:rPr lang="zh-CN" altLang="en-US" sz="1600" dirty="0">
                <a:sym typeface="+mn-ea"/>
              </a:rPr>
              <a:t>收购，交易金额预计数亿美元。</a:t>
            </a:r>
            <a:r>
              <a:rPr lang="en-US" altLang="zh-CN" sz="1600" dirty="0" err="1">
                <a:sym typeface="+mn-ea"/>
              </a:rPr>
              <a:t>UCToo</a:t>
            </a:r>
            <a:r>
              <a:rPr lang="en-US" altLang="zh-CN" sz="1600" dirty="0">
                <a:sym typeface="+mn-ea"/>
              </a:rPr>
              <a:t> V3</a:t>
            </a:r>
            <a:r>
              <a:rPr lang="zh-CN" altLang="en-US" sz="1600" dirty="0">
                <a:sym typeface="+mn-ea"/>
              </a:rPr>
              <a:t>技术栈选型与</a:t>
            </a:r>
            <a:r>
              <a:rPr lang="en-US" altLang="zh-CN" sz="1600" dirty="0">
                <a:sym typeface="+mn-ea"/>
              </a:rPr>
              <a:t>Bun</a:t>
            </a:r>
            <a:r>
              <a:rPr lang="zh-CN" altLang="en-US" sz="1600" dirty="0">
                <a:sym typeface="+mn-ea"/>
              </a:rPr>
              <a:t>基本相同。</a:t>
            </a:r>
            <a:endParaRPr lang="en-US" altLang="zh-CN" sz="1600" dirty="0">
              <a:sym typeface="+mn-ea"/>
            </a:endParaRPr>
          </a:p>
          <a:p>
            <a:pPr>
              <a:lnSpc>
                <a:spcPct val="200000"/>
              </a:lnSpc>
            </a:pPr>
            <a:r>
              <a:rPr lang="en-US" altLang="zh-CN" sz="1600" dirty="0">
                <a:sym typeface="+mn-ea"/>
              </a:rPr>
              <a:t>5</a:t>
            </a:r>
            <a:r>
              <a:rPr lang="zh-CN" altLang="en-US" sz="1600" dirty="0">
                <a:sym typeface="+mn-ea"/>
              </a:rPr>
              <a:t>）仓颉编程语言生态中已有一些垂直领域的框架开始崭露头角，例如</a:t>
            </a:r>
            <a:r>
              <a:rPr lang="en-US" altLang="zh-CN" sz="1600" dirty="0" err="1">
                <a:sym typeface="+mn-ea"/>
              </a:rPr>
              <a:t>CangjieMagic</a:t>
            </a:r>
            <a:r>
              <a:rPr lang="en-US" altLang="zh-CN" sz="1600" dirty="0">
                <a:sym typeface="+mn-ea"/>
              </a:rPr>
              <a:t> Agent</a:t>
            </a:r>
            <a:r>
              <a:rPr lang="zh-CN" altLang="en-US" sz="1600" dirty="0">
                <a:sym typeface="+mn-ea"/>
              </a:rPr>
              <a:t>开发框架，华为官方出品。但仓颉编程语言生态总体还很年轻，众多基础设施（</a:t>
            </a:r>
            <a:r>
              <a:rPr lang="en-US" altLang="zh-CN" sz="1600" dirty="0">
                <a:sym typeface="+mn-ea"/>
              </a:rPr>
              <a:t>IDE</a:t>
            </a:r>
            <a:r>
              <a:rPr lang="zh-CN" altLang="en-US" sz="1600" dirty="0">
                <a:sym typeface="+mn-ea"/>
              </a:rPr>
              <a:t>、第三方库、操作系统生态适配）等还在快速发展</a:t>
            </a:r>
            <a:endParaRPr lang="en-US" altLang="zh-CN" sz="1001" dirty="0">
              <a:sym typeface="+mn-ea"/>
            </a:endParaRPr>
          </a:p>
        </p:txBody>
      </p:sp>
    </p:spTree>
    <p:extLst>
      <p:ext uri="{BB962C8B-B14F-4D97-AF65-F5344CB8AC3E}">
        <p14:creationId xmlns:p14="http://schemas.microsoft.com/office/powerpoint/2010/main" val="2414076022"/>
      </p:ext>
    </p:extLst>
  </p:cSld>
  <p:clrMapOvr>
    <a:masterClrMapping/>
  </p:clrMapOvr>
  <mc:AlternateContent xmlns:mc="http://schemas.openxmlformats.org/markup-compatibility/2006" xmlns:p14="http://schemas.microsoft.com/office/powerpoint/2010/main">
    <mc:Choice Requires="p14">
      <p:transition p14:dur="0" advClick="0" advTm="26377"/>
    </mc:Choice>
    <mc:Fallback xmlns="">
      <p:transition advClick="0" advTm="2637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40556" y="150810"/>
            <a:ext cx="11734297"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行业趋势</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矩形 25"/>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pic>
        <p:nvPicPr>
          <p:cNvPr id="5" name="图片 4">
            <a:extLst>
              <a:ext uri="{FF2B5EF4-FFF2-40B4-BE49-F238E27FC236}">
                <a16:creationId xmlns:a16="http://schemas.microsoft.com/office/drawing/2014/main" id="{06028695-70EE-7E2B-B27F-ECF512B458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58" y="979984"/>
            <a:ext cx="5894251" cy="3927966"/>
          </a:xfrm>
          <a:prstGeom prst="rect">
            <a:avLst/>
          </a:prstGeom>
        </p:spPr>
      </p:pic>
      <p:sp>
        <p:nvSpPr>
          <p:cNvPr id="7" name="500美元以上全球高端智能手机市场份额稳步增长">
            <a:extLst>
              <a:ext uri="{FF2B5EF4-FFF2-40B4-BE49-F238E27FC236}">
                <a16:creationId xmlns:a16="http://schemas.microsoft.com/office/drawing/2014/main" id="{691B48DE-150D-9B8E-F919-B2181D889814}"/>
              </a:ext>
            </a:extLst>
          </p:cNvPr>
          <p:cNvSpPr txBox="1"/>
          <p:nvPr/>
        </p:nvSpPr>
        <p:spPr>
          <a:xfrm>
            <a:off x="5992181" y="659033"/>
            <a:ext cx="6199819" cy="6051218"/>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en-US" altLang="zh-CN" sz="1600" dirty="0">
                <a:sym typeface="+mn-ea"/>
              </a:rPr>
              <a:t>1</a:t>
            </a:r>
            <a:r>
              <a:rPr lang="zh-CN" altLang="en-US" sz="1600" dirty="0">
                <a:sym typeface="+mn-ea"/>
              </a:rPr>
              <a:t>）仓颉编程语言的原生智能特性，为</a:t>
            </a:r>
            <a:r>
              <a:rPr lang="en-US" altLang="zh-CN" sz="1600" dirty="0">
                <a:sym typeface="+mn-ea"/>
              </a:rPr>
              <a:t>AI</a:t>
            </a:r>
            <a:r>
              <a:rPr lang="zh-CN" altLang="en-US" sz="1600" dirty="0">
                <a:sym typeface="+mn-ea"/>
              </a:rPr>
              <a:t>驱动的开发框架提供了良好基础，相较其他编程语言的开发框架，</a:t>
            </a:r>
            <a:r>
              <a:rPr lang="en-US" altLang="zh-CN" sz="1600" dirty="0" err="1">
                <a:sym typeface="+mn-ea"/>
              </a:rPr>
              <a:t>OpenCangjie</a:t>
            </a:r>
            <a:r>
              <a:rPr lang="zh-CN" altLang="en-US" sz="1600" dirty="0">
                <a:sym typeface="+mn-ea"/>
              </a:rPr>
              <a:t>有望超越传统开发框架能力，与</a:t>
            </a:r>
            <a:r>
              <a:rPr lang="en-US" altLang="zh-CN" sz="1600" dirty="0">
                <a:sym typeface="+mn-ea"/>
              </a:rPr>
              <a:t>AI</a:t>
            </a:r>
            <a:r>
              <a:rPr lang="zh-CN" altLang="en-US" sz="1600" dirty="0">
                <a:sym typeface="+mn-ea"/>
              </a:rPr>
              <a:t>深入融合，成为未来数字新基建的基石，发展新质生产力的根基</a:t>
            </a:r>
            <a:endParaRPr lang="en-US" altLang="zh-CN" sz="1600" dirty="0">
              <a:sym typeface="+mn-ea"/>
            </a:endParaRPr>
          </a:p>
          <a:p>
            <a:pPr algn="l" eaLnBrk="1">
              <a:lnSpc>
                <a:spcPct val="200000"/>
              </a:lnSpc>
            </a:pPr>
            <a:r>
              <a:rPr lang="en-US" altLang="zh-CN" sz="1600" dirty="0">
                <a:sym typeface="+mn-ea"/>
              </a:rPr>
              <a:t>2</a:t>
            </a:r>
            <a:r>
              <a:rPr lang="zh-CN" altLang="en-US" sz="1600" dirty="0">
                <a:sym typeface="+mn-ea"/>
              </a:rPr>
              <a:t>）新一代操作系统、数据库、中间件、应用软件、工业软件等的智能化，均可能与仓颉编程语言及开发框架的发展有所关联，类似于</a:t>
            </a:r>
            <a:r>
              <a:rPr lang="en-US" altLang="zh-CN" sz="1600" dirty="0">
                <a:sym typeface="+mn-ea"/>
              </a:rPr>
              <a:t>rust</a:t>
            </a:r>
            <a:r>
              <a:rPr lang="zh-CN" altLang="en-US" sz="1600" dirty="0">
                <a:sym typeface="+mn-ea"/>
              </a:rPr>
              <a:t>语言被采纳进入</a:t>
            </a:r>
            <a:r>
              <a:rPr lang="en-US" altLang="zh-CN" sz="1600" dirty="0">
                <a:sym typeface="+mn-ea"/>
              </a:rPr>
              <a:t>Linux</a:t>
            </a:r>
            <a:r>
              <a:rPr lang="zh-CN" altLang="en-US" sz="1600" dirty="0">
                <a:sym typeface="+mn-ea"/>
              </a:rPr>
              <a:t>内核，成为国产数字化基础设施超越国外数字化基础设施的智能化源动力</a:t>
            </a:r>
            <a:endParaRPr lang="en-US" altLang="zh-CN" sz="1600" dirty="0">
              <a:sym typeface="+mn-ea"/>
            </a:endParaRPr>
          </a:p>
          <a:p>
            <a:pPr>
              <a:lnSpc>
                <a:spcPct val="200000"/>
              </a:lnSpc>
            </a:pPr>
            <a:r>
              <a:rPr lang="en-US" altLang="zh-CN" sz="1600" dirty="0">
                <a:sym typeface="+mn-ea"/>
              </a:rPr>
              <a:t>3</a:t>
            </a:r>
            <a:r>
              <a:rPr lang="zh-CN" altLang="en-US" sz="1600" dirty="0">
                <a:sym typeface="+mn-ea"/>
              </a:rPr>
              <a:t>）</a:t>
            </a:r>
            <a:r>
              <a:rPr lang="en-US" altLang="zh-CN" sz="1600" dirty="0" err="1">
                <a:sym typeface="+mn-ea"/>
              </a:rPr>
              <a:t>OpenCangjie</a:t>
            </a:r>
            <a:r>
              <a:rPr lang="zh-CN" altLang="en-US" sz="1600" dirty="0">
                <a:sym typeface="+mn-ea"/>
              </a:rPr>
              <a:t>开发框架的开源社区治理模式，有利于仓颉编程语言、</a:t>
            </a:r>
            <a:r>
              <a:rPr lang="en-US" altLang="zh-CN" sz="1600" dirty="0" err="1">
                <a:sym typeface="+mn-ea"/>
              </a:rPr>
              <a:t>OpenCangjie</a:t>
            </a:r>
            <a:r>
              <a:rPr lang="zh-CN" altLang="en-US" sz="1600" dirty="0">
                <a:sym typeface="+mn-ea"/>
              </a:rPr>
              <a:t>开发框架的国际化以及更广泛的推广和应用，为世界提供高稳定、强安全、可信赖、不受个别国家长臂管辖操控的数字基建基础设施新选择</a:t>
            </a:r>
            <a:endParaRPr lang="zh-CN" altLang="en-US" sz="1600" spc="201" dirty="0">
              <a:latin typeface="方正兰亭黑简体" panose="02000000000000000000" charset="-122"/>
              <a:sym typeface="+mn-ea"/>
            </a:endParaRPr>
          </a:p>
        </p:txBody>
      </p:sp>
      <p:sp>
        <p:nvSpPr>
          <p:cNvPr id="3" name="500美元以上全球高端智能手机市场份额稳步增长">
            <a:extLst>
              <a:ext uri="{FF2B5EF4-FFF2-40B4-BE49-F238E27FC236}">
                <a16:creationId xmlns:a16="http://schemas.microsoft.com/office/drawing/2014/main" id="{5E11A32D-87CF-71FB-B56E-4E311F6FDC22}"/>
              </a:ext>
            </a:extLst>
          </p:cNvPr>
          <p:cNvSpPr txBox="1"/>
          <p:nvPr/>
        </p:nvSpPr>
        <p:spPr>
          <a:xfrm>
            <a:off x="682716" y="5187241"/>
            <a:ext cx="4926777" cy="691033"/>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gn="l" eaLnBrk="1">
              <a:lnSpc>
                <a:spcPct val="200000"/>
              </a:lnSpc>
            </a:pPr>
            <a:r>
              <a:rPr lang="zh-CN" altLang="en-US" sz="1801" dirty="0">
                <a:solidFill>
                  <a:schemeClr val="accent5"/>
                </a:solidFill>
                <a:sym typeface="+mn-ea"/>
              </a:rPr>
              <a:t>实现国产自主可控</a:t>
            </a:r>
            <a:r>
              <a:rPr lang="en-US" altLang="zh-CN" sz="1801" dirty="0">
                <a:solidFill>
                  <a:schemeClr val="accent5"/>
                </a:solidFill>
                <a:sym typeface="+mn-ea"/>
              </a:rPr>
              <a:t>AI</a:t>
            </a:r>
            <a:r>
              <a:rPr lang="zh-CN" altLang="en-US" sz="1801" dirty="0">
                <a:solidFill>
                  <a:schemeClr val="accent5"/>
                </a:solidFill>
                <a:sym typeface="+mn-ea"/>
              </a:rPr>
              <a:t>驱动开发框架</a:t>
            </a:r>
            <a:r>
              <a:rPr lang="en-US" altLang="zh-CN" sz="1801" dirty="0">
                <a:solidFill>
                  <a:schemeClr val="accent5"/>
                </a:solidFill>
                <a:sym typeface="+mn-ea"/>
              </a:rPr>
              <a:t>0</a:t>
            </a:r>
            <a:r>
              <a:rPr lang="zh-CN" altLang="en-US" sz="1801" dirty="0">
                <a:solidFill>
                  <a:schemeClr val="accent5"/>
                </a:solidFill>
                <a:sym typeface="+mn-ea"/>
              </a:rPr>
              <a:t>的突破</a:t>
            </a:r>
            <a:endParaRPr lang="zh-CN" altLang="en-US" sz="1801" spc="201" dirty="0">
              <a:solidFill>
                <a:schemeClr val="accent5"/>
              </a:solidFill>
              <a:latin typeface="方正兰亭黑简体" panose="02000000000000000000" charset="-122"/>
              <a:sym typeface="+mn-ea"/>
            </a:endParaRPr>
          </a:p>
        </p:txBody>
      </p:sp>
    </p:spTree>
    <p:extLst>
      <p:ext uri="{BB962C8B-B14F-4D97-AF65-F5344CB8AC3E}">
        <p14:creationId xmlns:p14="http://schemas.microsoft.com/office/powerpoint/2010/main" val="841933080"/>
      </p:ext>
    </p:extLst>
  </p:cSld>
  <p:clrMapOvr>
    <a:masterClrMapping/>
  </p:clrMapOvr>
  <mc:AlternateContent xmlns:mc="http://schemas.openxmlformats.org/markup-compatibility/2006" xmlns:p14="http://schemas.microsoft.com/office/powerpoint/2010/main">
    <mc:Choice Requires="p14">
      <p:transition p14:dur="0" advClick="0" advTm="26377"/>
    </mc:Choice>
    <mc:Fallback xmlns="">
      <p:transition advClick="0" advTm="2637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40556" y="57500"/>
            <a:ext cx="11734297"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项目现状</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矩形 25"/>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4" name="500美元以上全球高端智能手机市场份额稳步增长">
            <a:extLst>
              <a:ext uri="{FF2B5EF4-FFF2-40B4-BE49-F238E27FC236}">
                <a16:creationId xmlns:a16="http://schemas.microsoft.com/office/drawing/2014/main" id="{2B1CE517-89A8-8C67-307F-F504AB74AC26}"/>
              </a:ext>
            </a:extLst>
          </p:cNvPr>
          <p:cNvSpPr txBox="1"/>
          <p:nvPr/>
        </p:nvSpPr>
        <p:spPr>
          <a:xfrm>
            <a:off x="503853" y="377642"/>
            <a:ext cx="11986727" cy="1627187"/>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en-US" altLang="zh-CN" sz="1600" dirty="0">
                <a:sym typeface="+mn-ea"/>
              </a:rPr>
              <a:t>1</a:t>
            </a:r>
            <a:r>
              <a:rPr lang="zh-CN" altLang="en-US" sz="1600" dirty="0">
                <a:sym typeface="+mn-ea"/>
              </a:rPr>
              <a:t>）已完成</a:t>
            </a:r>
            <a:r>
              <a:rPr lang="en-US" altLang="zh-CN" sz="1600" dirty="0" err="1">
                <a:sym typeface="+mn-ea"/>
              </a:rPr>
              <a:t>agentskills</a:t>
            </a:r>
            <a:r>
              <a:rPr lang="en-US" altLang="zh-CN" sz="1600" dirty="0">
                <a:sym typeface="+mn-ea"/>
              </a:rPr>
              <a:t>-runtime v0.0.1</a:t>
            </a:r>
            <a:r>
              <a:rPr lang="zh-CN" altLang="en-US" sz="1600" dirty="0">
                <a:sym typeface="+mn-ea"/>
              </a:rPr>
              <a:t>版本开发，实现</a:t>
            </a:r>
            <a:r>
              <a:rPr lang="en-US" altLang="zh-CN" sz="1600" dirty="0" err="1">
                <a:sym typeface="+mn-ea"/>
              </a:rPr>
              <a:t>agentskill</a:t>
            </a:r>
            <a:r>
              <a:rPr lang="zh-CN" altLang="en-US" sz="1600" dirty="0">
                <a:sym typeface="+mn-ea"/>
              </a:rPr>
              <a:t>标准主要能力支持。</a:t>
            </a:r>
            <a:endParaRPr lang="en-US" altLang="zh-CN" sz="1600" dirty="0">
              <a:sym typeface="+mn-ea"/>
            </a:endParaRPr>
          </a:p>
          <a:p>
            <a:pPr>
              <a:lnSpc>
                <a:spcPct val="200000"/>
              </a:lnSpc>
            </a:pPr>
            <a:r>
              <a:rPr lang="zh-CN" altLang="en-US" sz="1600" dirty="0">
                <a:sym typeface="+mn-ea"/>
              </a:rPr>
              <a:t>项目开源地址：</a:t>
            </a:r>
            <a:r>
              <a:rPr lang="en-US" altLang="zh-CN" sz="1600" dirty="0">
                <a:sym typeface="+mn-ea"/>
                <a:hlinkClick r:id="rId2"/>
              </a:rPr>
              <a:t>https://atomgit.com/UCToo/agentskills-runtime</a:t>
            </a:r>
            <a:endParaRPr lang="en-US" altLang="zh-CN" sz="1600" dirty="0">
              <a:sym typeface="+mn-ea"/>
            </a:endParaRPr>
          </a:p>
          <a:p>
            <a:pPr>
              <a:lnSpc>
                <a:spcPct val="200000"/>
              </a:lnSpc>
            </a:pPr>
            <a:r>
              <a:rPr lang="en-US" altLang="zh-CN" sz="1600" dirty="0">
                <a:sym typeface="+mn-ea"/>
              </a:rPr>
              <a:t>2</a:t>
            </a:r>
            <a:r>
              <a:rPr lang="zh-CN" altLang="en-US" sz="1600" dirty="0">
                <a:sym typeface="+mn-ea"/>
              </a:rPr>
              <a:t>）周周黑客松</a:t>
            </a:r>
            <a:r>
              <a:rPr lang="en-US" altLang="zh-CN" sz="1600" dirty="0">
                <a:sym typeface="+mn-ea"/>
              </a:rPr>
              <a:t>+</a:t>
            </a:r>
            <a:r>
              <a:rPr lang="zh-CN" altLang="en-US" sz="1600" dirty="0">
                <a:sym typeface="+mn-ea"/>
              </a:rPr>
              <a:t>汤泉黑客松增加了对阶跃星辰大模型的支持。</a:t>
            </a:r>
            <a:endParaRPr lang="zh-CN" altLang="en-US" sz="1001" dirty="0">
              <a:sym typeface="+mn-ea"/>
            </a:endParaRPr>
          </a:p>
        </p:txBody>
      </p:sp>
      <p:pic>
        <p:nvPicPr>
          <p:cNvPr id="5" name="图片 4">
            <a:extLst>
              <a:ext uri="{FF2B5EF4-FFF2-40B4-BE49-F238E27FC236}">
                <a16:creationId xmlns:a16="http://schemas.microsoft.com/office/drawing/2014/main" id="{D7ECE5EF-C1B6-8676-8FE6-D8AB6FAA5D7A}"/>
              </a:ext>
            </a:extLst>
          </p:cNvPr>
          <p:cNvPicPr>
            <a:picLocks noChangeAspect="1"/>
          </p:cNvPicPr>
          <p:nvPr/>
        </p:nvPicPr>
        <p:blipFill>
          <a:blip r:embed="rId3"/>
          <a:stretch>
            <a:fillRect/>
          </a:stretch>
        </p:blipFill>
        <p:spPr>
          <a:xfrm>
            <a:off x="662473" y="1875806"/>
            <a:ext cx="9993086" cy="4982194"/>
          </a:xfrm>
          <a:prstGeom prst="rect">
            <a:avLst/>
          </a:prstGeom>
        </p:spPr>
      </p:pic>
    </p:spTree>
    <p:extLst>
      <p:ext uri="{BB962C8B-B14F-4D97-AF65-F5344CB8AC3E}">
        <p14:creationId xmlns:p14="http://schemas.microsoft.com/office/powerpoint/2010/main" val="906053255"/>
      </p:ext>
    </p:extLst>
  </p:cSld>
  <p:clrMapOvr>
    <a:masterClrMapping/>
  </p:clrMapOvr>
  <mc:AlternateContent xmlns:mc="http://schemas.openxmlformats.org/markup-compatibility/2006" xmlns:p14="http://schemas.microsoft.com/office/powerpoint/2010/main">
    <mc:Choice Requires="p14">
      <p:transition p14:dur="0" advClick="0" advTm="26377"/>
    </mc:Choice>
    <mc:Fallback xmlns="">
      <p:transition advClick="0" advTm="2637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23460" y="164550"/>
            <a:ext cx="12006960"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竞争优势</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矩形 17"/>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4" name="500美元以上全球高端智能手机市场份额稳步增长">
            <a:extLst>
              <a:ext uri="{FF2B5EF4-FFF2-40B4-BE49-F238E27FC236}">
                <a16:creationId xmlns:a16="http://schemas.microsoft.com/office/drawing/2014/main" id="{7EF0F693-49BD-5DB4-A516-773867FF9302}"/>
              </a:ext>
            </a:extLst>
          </p:cNvPr>
          <p:cNvSpPr txBox="1"/>
          <p:nvPr/>
        </p:nvSpPr>
        <p:spPr>
          <a:xfrm>
            <a:off x="5225142" y="993471"/>
            <a:ext cx="6879749" cy="2119629"/>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zh-CN" altLang="en-US" sz="1600" dirty="0">
                <a:sym typeface="+mn-ea"/>
              </a:rPr>
              <a:t>1）作者</a:t>
            </a:r>
            <a:r>
              <a:rPr lang="en-US" altLang="zh-CN" sz="1600" dirty="0">
                <a:sym typeface="+mn-ea"/>
              </a:rPr>
              <a:t>20</a:t>
            </a:r>
            <a:r>
              <a:rPr lang="zh-CN" altLang="en-US" sz="1600" dirty="0">
                <a:sym typeface="+mn-ea"/>
              </a:rPr>
              <a:t>年前所写的</a:t>
            </a:r>
            <a:r>
              <a:rPr lang="en-US" altLang="zh-CN" sz="1600" dirty="0">
                <a:sym typeface="+mn-ea"/>
              </a:rPr>
              <a:t>USI</a:t>
            </a:r>
            <a:r>
              <a:rPr lang="zh-CN" altLang="en-US" sz="1600" dirty="0">
                <a:sym typeface="+mn-ea"/>
              </a:rPr>
              <a:t>专利与</a:t>
            </a:r>
            <a:r>
              <a:rPr lang="en-US" altLang="zh-CN" sz="1600" dirty="0" err="1">
                <a:sym typeface="+mn-ea"/>
              </a:rPr>
              <a:t>AgentSkill</a:t>
            </a:r>
            <a:r>
              <a:rPr lang="zh-CN" altLang="en-US" sz="1600" dirty="0">
                <a:sym typeface="+mn-ea"/>
              </a:rPr>
              <a:t>标准目标基本一致，对</a:t>
            </a:r>
            <a:r>
              <a:rPr lang="en-US" altLang="zh-CN" sz="1600" dirty="0" err="1">
                <a:sym typeface="+mn-ea"/>
              </a:rPr>
              <a:t>AgentSkill</a:t>
            </a:r>
            <a:r>
              <a:rPr lang="zh-CN" altLang="en-US" sz="1600" dirty="0">
                <a:sym typeface="+mn-ea"/>
              </a:rPr>
              <a:t>理解最深刻。</a:t>
            </a:r>
            <a:r>
              <a:rPr lang="en-US" altLang="zh-CN" sz="1600" dirty="0">
                <a:sym typeface="+mn-ea"/>
              </a:rPr>
              <a:t>《</a:t>
            </a:r>
            <a:r>
              <a:rPr lang="zh-CN" altLang="en-US" sz="1600" dirty="0">
                <a:sym typeface="+mn-ea"/>
              </a:rPr>
              <a:t>统一业务标识服务器及对业务进行统一命名和访问的方法</a:t>
            </a:r>
            <a:r>
              <a:rPr lang="en-US" altLang="zh-CN" sz="1600" dirty="0">
                <a:sym typeface="+mn-ea"/>
              </a:rPr>
              <a:t>》</a:t>
            </a:r>
            <a:r>
              <a:rPr lang="zh-CN" altLang="en-US" sz="1600" dirty="0">
                <a:sym typeface="+mn-ea"/>
              </a:rPr>
              <a:t>专利申请号</a:t>
            </a:r>
            <a:r>
              <a:rPr lang="en-US" altLang="zh-CN" sz="1600" dirty="0">
                <a:sym typeface="+mn-ea"/>
              </a:rPr>
              <a:t>2007100752450</a:t>
            </a:r>
          </a:p>
          <a:p>
            <a:pPr>
              <a:lnSpc>
                <a:spcPct val="200000"/>
              </a:lnSpc>
            </a:pPr>
            <a:endParaRPr lang="en-US" altLang="zh-CN" sz="1600" dirty="0">
              <a:sym typeface="+mn-ea"/>
            </a:endParaRPr>
          </a:p>
        </p:txBody>
      </p:sp>
      <p:pic>
        <p:nvPicPr>
          <p:cNvPr id="5" name="图片 4">
            <a:extLst>
              <a:ext uri="{FF2B5EF4-FFF2-40B4-BE49-F238E27FC236}">
                <a16:creationId xmlns:a16="http://schemas.microsoft.com/office/drawing/2014/main" id="{3FDB4BA6-C943-C2F2-72F0-D5D980F9B9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3813" y="993471"/>
            <a:ext cx="4133460" cy="5847822"/>
          </a:xfrm>
          <a:prstGeom prst="rect">
            <a:avLst/>
          </a:prstGeom>
        </p:spPr>
      </p:pic>
    </p:spTree>
    <p:extLst>
      <p:ext uri="{BB962C8B-B14F-4D97-AF65-F5344CB8AC3E}">
        <p14:creationId xmlns:p14="http://schemas.microsoft.com/office/powerpoint/2010/main" val="4133054509"/>
      </p:ext>
    </p:extLst>
  </p:cSld>
  <p:clrMapOvr>
    <a:masterClrMapping/>
  </p:clrMapOvr>
  <mc:AlternateContent xmlns:mc="http://schemas.openxmlformats.org/markup-compatibility/2006" xmlns:p14="http://schemas.microsoft.com/office/powerpoint/2010/main">
    <mc:Choice Requires="p14">
      <p:transition p14:dur="0" advTm="1336"/>
    </mc:Choice>
    <mc:Fallback xmlns="">
      <p:transition advTm="133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23460" y="164550"/>
            <a:ext cx="12006960"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运行</a:t>
            </a:r>
            <a:r>
              <a:rPr lang="en-US" altLang="zh-CN" sz="4000" b="1" spc="-201" dirty="0">
                <a:latin typeface="Open Sans" panose="020B0606030504020204" pitchFamily="34" charset="0"/>
                <a:ea typeface="Open Sans" panose="020B0606030504020204" pitchFamily="34" charset="0"/>
                <a:cs typeface="Open Sans" panose="020B0606030504020204" pitchFamily="34" charset="0"/>
              </a:rPr>
              <a:t>DEMO</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矩形 17"/>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pic>
        <p:nvPicPr>
          <p:cNvPr id="6" name="图片 5">
            <a:extLst>
              <a:ext uri="{FF2B5EF4-FFF2-40B4-BE49-F238E27FC236}">
                <a16:creationId xmlns:a16="http://schemas.microsoft.com/office/drawing/2014/main" id="{FF650797-096A-03EC-79CF-C8039C361F21}"/>
              </a:ext>
            </a:extLst>
          </p:cNvPr>
          <p:cNvPicPr>
            <a:picLocks noChangeAspect="1"/>
          </p:cNvPicPr>
          <p:nvPr/>
        </p:nvPicPr>
        <p:blipFill>
          <a:blip r:embed="rId2"/>
          <a:stretch>
            <a:fillRect/>
          </a:stretch>
        </p:blipFill>
        <p:spPr>
          <a:xfrm>
            <a:off x="1463000" y="1362999"/>
            <a:ext cx="9135591" cy="5402938"/>
          </a:xfrm>
          <a:prstGeom prst="rect">
            <a:avLst/>
          </a:prstGeom>
        </p:spPr>
      </p:pic>
      <p:sp>
        <p:nvSpPr>
          <p:cNvPr id="7" name="500美元以上全球高端智能手机市场份额稳步增长">
            <a:extLst>
              <a:ext uri="{FF2B5EF4-FFF2-40B4-BE49-F238E27FC236}">
                <a16:creationId xmlns:a16="http://schemas.microsoft.com/office/drawing/2014/main" id="{4812823F-481B-84E4-6C94-A15E20762A1E}"/>
              </a:ext>
            </a:extLst>
          </p:cNvPr>
          <p:cNvSpPr txBox="1"/>
          <p:nvPr/>
        </p:nvSpPr>
        <p:spPr>
          <a:xfrm>
            <a:off x="271261" y="691853"/>
            <a:ext cx="11649477" cy="638326"/>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zh-CN" altLang="en-US" sz="1600" dirty="0">
                <a:sym typeface="+mn-ea"/>
              </a:rPr>
              <a:t>客户端：通过自然语言与</a:t>
            </a:r>
            <a:r>
              <a:rPr lang="en-US" altLang="zh-CN" sz="1600" dirty="0">
                <a:sym typeface="+mn-ea"/>
              </a:rPr>
              <a:t>agent server</a:t>
            </a:r>
            <a:r>
              <a:rPr lang="zh-CN" altLang="en-US" sz="1600" dirty="0">
                <a:sym typeface="+mn-ea"/>
              </a:rPr>
              <a:t>对话</a:t>
            </a:r>
            <a:endParaRPr lang="en-US" altLang="zh-CN" sz="1600" dirty="0">
              <a:sym typeface="+mn-ea"/>
            </a:endParaRPr>
          </a:p>
        </p:txBody>
      </p:sp>
    </p:spTree>
  </p:cSld>
  <p:clrMapOvr>
    <a:masterClrMapping/>
  </p:clrMapOvr>
  <mc:AlternateContent xmlns:mc="http://schemas.openxmlformats.org/markup-compatibility/2006" xmlns:p14="http://schemas.microsoft.com/office/powerpoint/2010/main">
    <mc:Choice Requires="p14">
      <p:transition p14:dur="0" advTm="1336"/>
    </mc:Choice>
    <mc:Fallback xmlns="">
      <p:transition advTm="133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23460" y="164550"/>
            <a:ext cx="12006960"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运行</a:t>
            </a:r>
            <a:r>
              <a:rPr lang="en-US" altLang="zh-CN" sz="4000" b="1" spc="-201" dirty="0">
                <a:latin typeface="Open Sans" panose="020B0606030504020204" pitchFamily="34" charset="0"/>
                <a:ea typeface="Open Sans" panose="020B0606030504020204" pitchFamily="34" charset="0"/>
                <a:cs typeface="Open Sans" panose="020B0606030504020204" pitchFamily="34" charset="0"/>
              </a:rPr>
              <a:t>DEMO</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矩形 17"/>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7" name="500美元以上全球高端智能手机市场份额稳步增长">
            <a:extLst>
              <a:ext uri="{FF2B5EF4-FFF2-40B4-BE49-F238E27FC236}">
                <a16:creationId xmlns:a16="http://schemas.microsoft.com/office/drawing/2014/main" id="{4812823F-481B-84E4-6C94-A15E20762A1E}"/>
              </a:ext>
            </a:extLst>
          </p:cNvPr>
          <p:cNvSpPr txBox="1"/>
          <p:nvPr/>
        </p:nvSpPr>
        <p:spPr>
          <a:xfrm>
            <a:off x="207613" y="503104"/>
            <a:ext cx="11897279" cy="1130769"/>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en-US" altLang="zh-CN" sz="1600" dirty="0">
                <a:sym typeface="+mn-ea"/>
              </a:rPr>
              <a:t>Agent</a:t>
            </a:r>
            <a:r>
              <a:rPr lang="zh-CN" altLang="en-US" sz="1600" dirty="0">
                <a:sym typeface="+mn-ea"/>
              </a:rPr>
              <a:t>服务端：通过加载</a:t>
            </a:r>
            <a:r>
              <a:rPr lang="en-US" altLang="zh-CN" sz="1600" dirty="0">
                <a:sym typeface="+mn-ea"/>
              </a:rPr>
              <a:t>SKILL.md</a:t>
            </a:r>
            <a:r>
              <a:rPr lang="zh-CN" altLang="en-US" sz="1600" dirty="0">
                <a:sym typeface="+mn-ea"/>
              </a:rPr>
              <a:t>驱动技能运行，</a:t>
            </a:r>
            <a:r>
              <a:rPr lang="en-US" altLang="zh-CN" sz="1600" dirty="0">
                <a:sym typeface="+mn-ea"/>
              </a:rPr>
              <a:t>Agent</a:t>
            </a:r>
            <a:r>
              <a:rPr lang="zh-CN" altLang="en-US" sz="1600" dirty="0">
                <a:sym typeface="+mn-ea"/>
              </a:rPr>
              <a:t>技能解析自然语言，调用</a:t>
            </a:r>
            <a:r>
              <a:rPr lang="en-US" altLang="zh-CN" sz="1600" dirty="0">
                <a:sym typeface="+mn-ea"/>
              </a:rPr>
              <a:t>backend</a:t>
            </a:r>
            <a:r>
              <a:rPr lang="zh-CN" altLang="en-US" sz="1600" dirty="0">
                <a:sym typeface="+mn-ea"/>
              </a:rPr>
              <a:t>服务器</a:t>
            </a:r>
            <a:r>
              <a:rPr lang="en-US" altLang="zh-CN" sz="1600" dirty="0">
                <a:sym typeface="+mn-ea"/>
              </a:rPr>
              <a:t>API</a:t>
            </a:r>
            <a:r>
              <a:rPr lang="zh-CN" altLang="en-US" sz="1600" dirty="0">
                <a:sym typeface="+mn-ea"/>
              </a:rPr>
              <a:t>接口，实现</a:t>
            </a:r>
            <a:r>
              <a:rPr lang="en-US" altLang="zh-CN" sz="1600" dirty="0">
                <a:sym typeface="+mn-ea"/>
              </a:rPr>
              <a:t>/hello</a:t>
            </a:r>
            <a:r>
              <a:rPr lang="zh-CN" altLang="en-US" sz="1600" dirty="0">
                <a:sym typeface="+mn-ea"/>
              </a:rPr>
              <a:t>接口测试、登录接口用帐密登录，对数据库</a:t>
            </a:r>
            <a:r>
              <a:rPr lang="en-US" altLang="zh-CN" sz="1600" dirty="0">
                <a:sym typeface="+mn-ea"/>
              </a:rPr>
              <a:t>CRUD</a:t>
            </a:r>
            <a:r>
              <a:rPr lang="zh-CN" altLang="en-US" sz="1600" dirty="0">
                <a:sym typeface="+mn-ea"/>
              </a:rPr>
              <a:t>操作</a:t>
            </a:r>
            <a:endParaRPr lang="en-US" altLang="zh-CN" sz="1600" dirty="0">
              <a:sym typeface="+mn-ea"/>
            </a:endParaRPr>
          </a:p>
        </p:txBody>
      </p:sp>
      <p:pic>
        <p:nvPicPr>
          <p:cNvPr id="4" name="图片 3">
            <a:extLst>
              <a:ext uri="{FF2B5EF4-FFF2-40B4-BE49-F238E27FC236}">
                <a16:creationId xmlns:a16="http://schemas.microsoft.com/office/drawing/2014/main" id="{BD5B0509-213D-A131-ED2A-12039438E0B8}"/>
              </a:ext>
            </a:extLst>
          </p:cNvPr>
          <p:cNvPicPr>
            <a:picLocks noChangeAspect="1"/>
          </p:cNvPicPr>
          <p:nvPr/>
        </p:nvPicPr>
        <p:blipFill>
          <a:blip r:embed="rId2"/>
          <a:stretch>
            <a:fillRect/>
          </a:stretch>
        </p:blipFill>
        <p:spPr>
          <a:xfrm>
            <a:off x="3350602" y="1598114"/>
            <a:ext cx="5611300" cy="5259886"/>
          </a:xfrm>
          <a:prstGeom prst="rect">
            <a:avLst/>
          </a:prstGeom>
        </p:spPr>
      </p:pic>
    </p:spTree>
    <p:extLst>
      <p:ext uri="{BB962C8B-B14F-4D97-AF65-F5344CB8AC3E}">
        <p14:creationId xmlns:p14="http://schemas.microsoft.com/office/powerpoint/2010/main" val="4005741899"/>
      </p:ext>
    </p:extLst>
  </p:cSld>
  <p:clrMapOvr>
    <a:masterClrMapping/>
  </p:clrMapOvr>
  <mc:AlternateContent xmlns:mc="http://schemas.openxmlformats.org/markup-compatibility/2006" xmlns:p14="http://schemas.microsoft.com/office/powerpoint/2010/main">
    <mc:Choice Requires="p14">
      <p:transition p14:dur="0" advTm="1336"/>
    </mc:Choice>
    <mc:Fallback xmlns="">
      <p:transition advTm="133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23460" y="164550"/>
            <a:ext cx="12006960"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运行</a:t>
            </a:r>
            <a:r>
              <a:rPr lang="en-US" altLang="zh-CN" sz="4000" b="1" spc="-201" dirty="0">
                <a:latin typeface="Open Sans" panose="020B0606030504020204" pitchFamily="34" charset="0"/>
                <a:ea typeface="Open Sans" panose="020B0606030504020204" pitchFamily="34" charset="0"/>
                <a:cs typeface="Open Sans" panose="020B0606030504020204" pitchFamily="34" charset="0"/>
              </a:rPr>
              <a:t>DEMO</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矩形 17"/>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7" name="500美元以上全球高端智能手机市场份额稳步增长">
            <a:extLst>
              <a:ext uri="{FF2B5EF4-FFF2-40B4-BE49-F238E27FC236}">
                <a16:creationId xmlns:a16="http://schemas.microsoft.com/office/drawing/2014/main" id="{4812823F-481B-84E4-6C94-A15E20762A1E}"/>
              </a:ext>
            </a:extLst>
          </p:cNvPr>
          <p:cNvSpPr txBox="1"/>
          <p:nvPr/>
        </p:nvSpPr>
        <p:spPr>
          <a:xfrm>
            <a:off x="207613" y="503104"/>
            <a:ext cx="11897279" cy="638326"/>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en-US" altLang="zh-CN" sz="1600" dirty="0">
                <a:sym typeface="+mn-ea"/>
              </a:rPr>
              <a:t>backend</a:t>
            </a:r>
            <a:r>
              <a:rPr lang="zh-CN" altLang="en-US" sz="1600" dirty="0">
                <a:sym typeface="+mn-ea"/>
              </a:rPr>
              <a:t>服务端：通过统一</a:t>
            </a:r>
            <a:r>
              <a:rPr lang="en-US" altLang="zh-CN" sz="1600" dirty="0">
                <a:sym typeface="+mn-ea"/>
              </a:rPr>
              <a:t>ORM</a:t>
            </a:r>
            <a:r>
              <a:rPr lang="zh-CN" altLang="en-US" sz="1600" dirty="0">
                <a:sym typeface="+mn-ea"/>
              </a:rPr>
              <a:t>层与</a:t>
            </a:r>
            <a:r>
              <a:rPr lang="en-US" altLang="zh-CN" sz="1600" dirty="0">
                <a:sym typeface="+mn-ea"/>
              </a:rPr>
              <a:t>Agent Server</a:t>
            </a:r>
            <a:r>
              <a:rPr lang="zh-CN" altLang="en-US" sz="1600" dirty="0">
                <a:sym typeface="+mn-ea"/>
              </a:rPr>
              <a:t>调用</a:t>
            </a:r>
            <a:r>
              <a:rPr lang="en-US" altLang="zh-CN" sz="1600" dirty="0">
                <a:sym typeface="+mn-ea"/>
              </a:rPr>
              <a:t>API</a:t>
            </a:r>
            <a:r>
              <a:rPr lang="zh-CN" altLang="en-US" sz="1600" dirty="0">
                <a:sym typeface="+mn-ea"/>
              </a:rPr>
              <a:t>请求交互，对数据库进行</a:t>
            </a:r>
            <a:r>
              <a:rPr lang="en-US" altLang="zh-CN" sz="1600" dirty="0">
                <a:sym typeface="+mn-ea"/>
              </a:rPr>
              <a:t>CURD</a:t>
            </a:r>
            <a:r>
              <a:rPr lang="zh-CN" altLang="en-US" sz="1600" dirty="0">
                <a:sym typeface="+mn-ea"/>
              </a:rPr>
              <a:t>操作</a:t>
            </a:r>
            <a:endParaRPr lang="en-US" altLang="zh-CN" sz="1600" dirty="0">
              <a:sym typeface="+mn-ea"/>
            </a:endParaRPr>
          </a:p>
        </p:txBody>
      </p:sp>
      <p:pic>
        <p:nvPicPr>
          <p:cNvPr id="5" name="图片 4">
            <a:extLst>
              <a:ext uri="{FF2B5EF4-FFF2-40B4-BE49-F238E27FC236}">
                <a16:creationId xmlns:a16="http://schemas.microsoft.com/office/drawing/2014/main" id="{168396AB-F14A-3C77-6738-D69AEAA3A838}"/>
              </a:ext>
            </a:extLst>
          </p:cNvPr>
          <p:cNvPicPr>
            <a:picLocks noChangeAspect="1"/>
          </p:cNvPicPr>
          <p:nvPr/>
        </p:nvPicPr>
        <p:blipFill>
          <a:blip r:embed="rId2"/>
          <a:stretch>
            <a:fillRect/>
          </a:stretch>
        </p:blipFill>
        <p:spPr>
          <a:xfrm>
            <a:off x="2843611" y="1087416"/>
            <a:ext cx="6292009" cy="5751922"/>
          </a:xfrm>
          <a:prstGeom prst="rect">
            <a:avLst/>
          </a:prstGeom>
        </p:spPr>
      </p:pic>
    </p:spTree>
    <p:extLst>
      <p:ext uri="{BB962C8B-B14F-4D97-AF65-F5344CB8AC3E}">
        <p14:creationId xmlns:p14="http://schemas.microsoft.com/office/powerpoint/2010/main" val="3965561911"/>
      </p:ext>
    </p:extLst>
  </p:cSld>
  <p:clrMapOvr>
    <a:masterClrMapping/>
  </p:clrMapOvr>
  <mc:AlternateContent xmlns:mc="http://schemas.openxmlformats.org/markup-compatibility/2006" xmlns:p14="http://schemas.microsoft.com/office/powerpoint/2010/main">
    <mc:Choice Requires="p14">
      <p:transition p14:dur="0" advTm="1336"/>
    </mc:Choice>
    <mc:Fallback xmlns="">
      <p:transition advTm="133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C5FCC039-8873-8E73-7262-A3CA2EC25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8382" y="937006"/>
            <a:ext cx="4053618" cy="2890080"/>
          </a:xfrm>
          <a:prstGeom prst="rect">
            <a:avLst/>
          </a:prstGeom>
        </p:spPr>
      </p:pic>
      <p:sp>
        <p:nvSpPr>
          <p:cNvPr id="5" name="Text Box 7"/>
          <p:cNvSpPr txBox="1">
            <a:spLocks noChangeArrowheads="1"/>
          </p:cNvSpPr>
          <p:nvPr/>
        </p:nvSpPr>
        <p:spPr bwMode="auto">
          <a:xfrm>
            <a:off x="45494" y="164543"/>
            <a:ext cx="11742555"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资质</a:t>
            </a:r>
            <a:r>
              <a:rPr lang="en-US" altLang="zh-CN" sz="4000" b="1" spc="-201" dirty="0">
                <a:latin typeface="Open Sans" panose="020B0606030504020204" pitchFamily="34" charset="0"/>
                <a:ea typeface="Open Sans" panose="020B0606030504020204" pitchFamily="34" charset="0"/>
                <a:cs typeface="Open Sans" panose="020B0606030504020204" pitchFamily="34" charset="0"/>
              </a:rPr>
              <a:t>/</a:t>
            </a:r>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奖项</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矩形 25"/>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pic>
        <p:nvPicPr>
          <p:cNvPr id="3" name="图片 2">
            <a:extLst>
              <a:ext uri="{FF2B5EF4-FFF2-40B4-BE49-F238E27FC236}">
                <a16:creationId xmlns:a16="http://schemas.microsoft.com/office/drawing/2014/main" id="{3898F985-7262-4D0F-F8C3-C227D1D876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43890" y="930210"/>
            <a:ext cx="3854945" cy="2890079"/>
          </a:xfrm>
          <a:prstGeom prst="rect">
            <a:avLst/>
          </a:prstGeom>
        </p:spPr>
      </p:pic>
      <p:sp>
        <p:nvSpPr>
          <p:cNvPr id="9" name="500美元以上全球高端智能手机市场份额稳步增长">
            <a:extLst>
              <a:ext uri="{FF2B5EF4-FFF2-40B4-BE49-F238E27FC236}">
                <a16:creationId xmlns:a16="http://schemas.microsoft.com/office/drawing/2014/main" id="{DAC3D061-FDB6-B641-572C-D8C4CA2AD7F8}"/>
              </a:ext>
            </a:extLst>
          </p:cNvPr>
          <p:cNvSpPr txBox="1"/>
          <p:nvPr/>
        </p:nvSpPr>
        <p:spPr>
          <a:xfrm>
            <a:off x="744262" y="4698970"/>
            <a:ext cx="10852700" cy="2122131"/>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r>
              <a:rPr lang="en-US" altLang="zh-CN" sz="1401" dirty="0">
                <a:sym typeface="+mn-ea"/>
              </a:rPr>
              <a:t>1</a:t>
            </a:r>
            <a:r>
              <a:rPr lang="zh-CN" altLang="en-US" sz="1401" dirty="0">
                <a:sym typeface="+mn-ea"/>
              </a:rPr>
              <a:t>）</a:t>
            </a:r>
            <a:r>
              <a:rPr lang="en-US" altLang="zh-CN" sz="1401" dirty="0">
                <a:sym typeface="+mn-ea"/>
              </a:rPr>
              <a:t>2025</a:t>
            </a:r>
            <a:r>
              <a:rPr lang="zh-CN" altLang="en-US" sz="1401" dirty="0">
                <a:sym typeface="+mn-ea"/>
              </a:rPr>
              <a:t>首批仓颉中级开发者证书。</a:t>
            </a:r>
            <a:endParaRPr lang="en-US" altLang="zh-CN" sz="1401" dirty="0">
              <a:sym typeface="+mn-ea"/>
            </a:endParaRPr>
          </a:p>
          <a:p>
            <a:r>
              <a:rPr lang="en-US" altLang="zh-CN" sz="1401" dirty="0">
                <a:sym typeface="+mn-ea"/>
              </a:rPr>
              <a:t>2</a:t>
            </a:r>
            <a:r>
              <a:rPr lang="zh-CN" altLang="en-US" sz="1401" dirty="0">
                <a:sym typeface="+mn-ea"/>
              </a:rPr>
              <a:t>）</a:t>
            </a:r>
            <a:r>
              <a:rPr lang="en-US" altLang="zh-CN" sz="1401" dirty="0">
                <a:sym typeface="+mn-ea"/>
              </a:rPr>
              <a:t>2023</a:t>
            </a:r>
            <a:r>
              <a:rPr lang="zh-CN" altLang="en-US" sz="1401" dirty="0">
                <a:sym typeface="+mn-ea"/>
              </a:rPr>
              <a:t>首届华为</a:t>
            </a:r>
            <a:r>
              <a:rPr lang="en-US" altLang="zh-CN" sz="1401" dirty="0" err="1">
                <a:sym typeface="+mn-ea"/>
              </a:rPr>
              <a:t>HarmonyOS</a:t>
            </a:r>
            <a:r>
              <a:rPr lang="zh-CN" altLang="en-US" sz="1401" dirty="0">
                <a:sym typeface="+mn-ea"/>
              </a:rPr>
              <a:t>极客马拉松决赛优秀作品。</a:t>
            </a:r>
          </a:p>
          <a:p>
            <a:pPr algn="l" eaLnBrk="1"/>
            <a:r>
              <a:rPr lang="en-US" altLang="zh-CN" sz="1401" dirty="0">
                <a:sym typeface="+mn-ea"/>
              </a:rPr>
              <a:t>3</a:t>
            </a:r>
            <a:r>
              <a:rPr lang="zh-CN" altLang="en-US" sz="1401" dirty="0">
                <a:sym typeface="+mn-ea"/>
              </a:rPr>
              <a:t>）信通院企业数字化发展共建共享平台低代码</a:t>
            </a:r>
            <a:r>
              <a:rPr lang="en-US" altLang="zh-CN" sz="1401" dirty="0">
                <a:sym typeface="+mn-ea"/>
              </a:rPr>
              <a:t>/</a:t>
            </a:r>
            <a:r>
              <a:rPr lang="zh-CN" altLang="en-US" sz="1401" dirty="0">
                <a:sym typeface="+mn-ea"/>
              </a:rPr>
              <a:t>无代码推进中心成员单位。参与相关行业标准制定</a:t>
            </a:r>
            <a:endParaRPr lang="en-US" altLang="zh-CN" sz="1401" dirty="0">
              <a:sym typeface="+mn-ea"/>
            </a:endParaRPr>
          </a:p>
          <a:p>
            <a:pPr algn="l" eaLnBrk="1"/>
            <a:r>
              <a:rPr lang="en-US" altLang="zh-CN" sz="1401" dirty="0">
                <a:sym typeface="+mn-ea"/>
              </a:rPr>
              <a:t>4</a:t>
            </a:r>
            <a:r>
              <a:rPr lang="zh-CN" altLang="en-US" sz="1401" dirty="0">
                <a:sym typeface="+mn-ea"/>
              </a:rPr>
              <a:t>）公司原有产品</a:t>
            </a:r>
            <a:r>
              <a:rPr lang="en-US" altLang="zh-CN" sz="1401" dirty="0" err="1">
                <a:sym typeface="+mn-ea"/>
              </a:rPr>
              <a:t>UCToo</a:t>
            </a:r>
            <a:r>
              <a:rPr lang="zh-CN" altLang="en-US" sz="1401" dirty="0">
                <a:sym typeface="+mn-ea"/>
              </a:rPr>
              <a:t>开发框架，入选</a:t>
            </a:r>
            <a:r>
              <a:rPr lang="en-US" altLang="zh-CN" sz="1401" dirty="0">
                <a:sym typeface="+mn-ea"/>
              </a:rPr>
              <a:t>2021</a:t>
            </a:r>
            <a:r>
              <a:rPr lang="zh-CN" altLang="en-US" sz="1401" dirty="0">
                <a:sym typeface="+mn-ea"/>
              </a:rPr>
              <a:t>首届腾讯云原生加速器决赛项目</a:t>
            </a:r>
          </a:p>
          <a:p>
            <a:pPr algn="l" eaLnBrk="1"/>
            <a:r>
              <a:rPr lang="en-US" altLang="zh-CN" sz="1401" dirty="0">
                <a:sym typeface="+mn-ea"/>
              </a:rPr>
              <a:t>5</a:t>
            </a:r>
            <a:r>
              <a:rPr lang="zh-CN" altLang="en-US" sz="1401" dirty="0">
                <a:sym typeface="+mn-ea"/>
              </a:rPr>
              <a:t>）</a:t>
            </a:r>
            <a:r>
              <a:rPr lang="en-US" altLang="zh-CN" sz="1401" dirty="0">
                <a:sym typeface="+mn-ea"/>
              </a:rPr>
              <a:t>2019</a:t>
            </a:r>
            <a:r>
              <a:rPr lang="zh-CN" altLang="en-US" sz="1401" dirty="0">
                <a:sym typeface="+mn-ea"/>
              </a:rPr>
              <a:t>微信全球开发者大会决赛最受用户欢迎作品奖</a:t>
            </a:r>
            <a:endParaRPr lang="en-US" altLang="zh-CN" sz="1401" dirty="0">
              <a:sym typeface="+mn-ea"/>
            </a:endParaRPr>
          </a:p>
          <a:p>
            <a:r>
              <a:rPr lang="en-US" altLang="zh-CN" sz="1401" dirty="0">
                <a:sym typeface="+mn-ea"/>
              </a:rPr>
              <a:t>6</a:t>
            </a:r>
            <a:r>
              <a:rPr lang="zh-CN" altLang="en-US" sz="1401" dirty="0">
                <a:sym typeface="+mn-ea"/>
              </a:rPr>
              <a:t>）</a:t>
            </a:r>
            <a:r>
              <a:rPr lang="en-US" altLang="zh-CN" sz="1401" dirty="0">
                <a:sym typeface="+mn-ea"/>
              </a:rPr>
              <a:t>2017</a:t>
            </a:r>
            <a:r>
              <a:rPr lang="zh-CN" altLang="en-US" sz="1401" dirty="0">
                <a:sym typeface="+mn-ea"/>
              </a:rPr>
              <a:t>全国双创周入选主会场创新项目。</a:t>
            </a:r>
            <a:endParaRPr lang="zh-CN" altLang="en-US" sz="1401" spc="201" dirty="0">
              <a:latin typeface="方正兰亭黑简体" panose="02000000000000000000" charset="-122"/>
              <a:sym typeface="+mn-ea"/>
            </a:endParaRPr>
          </a:p>
        </p:txBody>
      </p:sp>
      <p:pic>
        <p:nvPicPr>
          <p:cNvPr id="4" name="图片 3">
            <a:extLst>
              <a:ext uri="{FF2B5EF4-FFF2-40B4-BE49-F238E27FC236}">
                <a16:creationId xmlns:a16="http://schemas.microsoft.com/office/drawing/2014/main" id="{2958A557-23CD-401C-DBEB-A788B36CCA7B}"/>
              </a:ext>
            </a:extLst>
          </p:cNvPr>
          <p:cNvPicPr>
            <a:picLocks noChangeAspect="1"/>
          </p:cNvPicPr>
          <p:nvPr/>
        </p:nvPicPr>
        <p:blipFill>
          <a:blip r:embed="rId4"/>
          <a:stretch>
            <a:fillRect/>
          </a:stretch>
        </p:blipFill>
        <p:spPr>
          <a:xfrm>
            <a:off x="45494" y="691861"/>
            <a:ext cx="4405208" cy="328180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52352"/>
    </mc:Choice>
    <mc:Fallback xmlns="">
      <p:transition advTm="5235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7EC92-1F30-E226-30FB-6340736BA500}"/>
            </a:ext>
          </a:extLst>
        </p:cNvPr>
        <p:cNvGrpSpPr/>
        <p:nvPr/>
      </p:nvGrpSpPr>
      <p:grpSpPr>
        <a:xfrm>
          <a:off x="0" y="0"/>
          <a:ext cx="0" cy="0"/>
          <a:chOff x="0" y="0"/>
          <a:chExt cx="0" cy="0"/>
        </a:xfrm>
      </p:grpSpPr>
      <p:sp>
        <p:nvSpPr>
          <p:cNvPr id="2" name="Text Box 7">
            <a:extLst>
              <a:ext uri="{FF2B5EF4-FFF2-40B4-BE49-F238E27FC236}">
                <a16:creationId xmlns:a16="http://schemas.microsoft.com/office/drawing/2014/main" id="{33B9F980-BDDC-A09A-0DDF-8E39C6A1191E}"/>
              </a:ext>
            </a:extLst>
          </p:cNvPr>
          <p:cNvSpPr txBox="1">
            <a:spLocks noChangeArrowheads="1"/>
          </p:cNvSpPr>
          <p:nvPr/>
        </p:nvSpPr>
        <p:spPr bwMode="auto">
          <a:xfrm>
            <a:off x="-364293" y="320478"/>
            <a:ext cx="12226779"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财务与融资</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矩形 5">
            <a:extLst>
              <a:ext uri="{FF2B5EF4-FFF2-40B4-BE49-F238E27FC236}">
                <a16:creationId xmlns:a16="http://schemas.microsoft.com/office/drawing/2014/main" id="{EBFB7AAA-5081-B9D5-01B3-D8E1E5EFB059}"/>
              </a:ext>
            </a:extLst>
          </p:cNvPr>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10" name="500美元以上全球高端智能手机市场份额稳步增长">
            <a:extLst>
              <a:ext uri="{FF2B5EF4-FFF2-40B4-BE49-F238E27FC236}">
                <a16:creationId xmlns:a16="http://schemas.microsoft.com/office/drawing/2014/main" id="{414E1265-3A3D-D0CB-7A43-2658E53BCE13}"/>
              </a:ext>
            </a:extLst>
          </p:cNvPr>
          <p:cNvSpPr txBox="1"/>
          <p:nvPr/>
        </p:nvSpPr>
        <p:spPr>
          <a:xfrm>
            <a:off x="97932" y="1520745"/>
            <a:ext cx="12006960" cy="3100539"/>
          </a:xfrm>
          <a:prstGeom prst="rect">
            <a:avLst/>
          </a:prstGeom>
          <a:ln w="12700">
            <a:miter lim="400000"/>
          </a:ln>
        </p:spPr>
        <p:txBody>
          <a:bodyPr wrap="square" lIns="108368" tIns="108368" rIns="108368" bIns="108368">
            <a:spAutoFit/>
          </a:bodyPr>
          <a:lstStyle>
            <a:lvl1pPr>
              <a:lnSpc>
                <a:spcPct val="150000"/>
              </a:lnSpc>
              <a:defRPr sz="3500" spc="175">
                <a:solidFill>
                  <a:srgbClr val="000000"/>
                </a:solidFill>
              </a:defRPr>
            </a:lvl1pPr>
          </a:lstStyle>
          <a:p>
            <a:pPr>
              <a:lnSpc>
                <a:spcPct val="200000"/>
              </a:lnSpc>
            </a:pPr>
            <a:r>
              <a:rPr lang="zh-CN" altLang="en-US" sz="1600" dirty="0">
                <a:sym typeface="+mn-ea"/>
              </a:rPr>
              <a:t>1）种子轮融资，</a:t>
            </a:r>
            <a:r>
              <a:rPr lang="en-US" altLang="zh-CN" sz="1600" dirty="0">
                <a:sym typeface="+mn-ea"/>
              </a:rPr>
              <a:t>200</a:t>
            </a:r>
            <a:r>
              <a:rPr lang="zh-CN" altLang="en-US" sz="1600" dirty="0">
                <a:sym typeface="+mn-ea"/>
              </a:rPr>
              <a:t>万至</a:t>
            </a:r>
            <a:r>
              <a:rPr lang="en-US" altLang="zh-CN" sz="1600" dirty="0">
                <a:sym typeface="+mn-ea"/>
              </a:rPr>
              <a:t>500</a:t>
            </a:r>
            <a:r>
              <a:rPr lang="zh-CN" altLang="en-US" sz="1600" dirty="0">
                <a:sym typeface="+mn-ea"/>
              </a:rPr>
              <a:t>万人民币，出让</a:t>
            </a:r>
            <a:r>
              <a:rPr lang="en-US" altLang="zh-CN" sz="1600" dirty="0">
                <a:sym typeface="+mn-ea"/>
              </a:rPr>
              <a:t>5~10%</a:t>
            </a:r>
            <a:r>
              <a:rPr lang="zh-CN" altLang="en-US" sz="1600" dirty="0">
                <a:sym typeface="+mn-ea"/>
              </a:rPr>
              <a:t>股份，产出</a:t>
            </a:r>
            <a:r>
              <a:rPr lang="en-US" altLang="zh-CN" sz="1600" dirty="0" err="1">
                <a:sym typeface="+mn-ea"/>
              </a:rPr>
              <a:t>OpenCangjie</a:t>
            </a:r>
            <a:r>
              <a:rPr lang="zh-CN" altLang="en-US" sz="1600" dirty="0">
                <a:sym typeface="+mn-ea"/>
              </a:rPr>
              <a:t>开发者预览版。</a:t>
            </a:r>
          </a:p>
          <a:p>
            <a:pPr>
              <a:lnSpc>
                <a:spcPct val="200000"/>
              </a:lnSpc>
            </a:pPr>
            <a:r>
              <a:rPr lang="zh-CN" altLang="en-US" sz="1600" dirty="0">
                <a:sym typeface="+mn-ea"/>
              </a:rPr>
              <a:t>2）天使轮融资，</a:t>
            </a:r>
            <a:r>
              <a:rPr lang="en-US" altLang="zh-CN" sz="1600" dirty="0">
                <a:sym typeface="+mn-ea"/>
              </a:rPr>
              <a:t>500</a:t>
            </a:r>
            <a:r>
              <a:rPr lang="zh-CN" altLang="en-US" sz="1600" dirty="0">
                <a:sym typeface="+mn-ea"/>
              </a:rPr>
              <a:t>万至</a:t>
            </a:r>
            <a:r>
              <a:rPr lang="en-US" altLang="zh-CN" sz="1600" dirty="0">
                <a:sym typeface="+mn-ea"/>
              </a:rPr>
              <a:t>2000</a:t>
            </a:r>
            <a:r>
              <a:rPr lang="zh-CN" altLang="en-US" sz="1600" dirty="0">
                <a:sym typeface="+mn-ea"/>
              </a:rPr>
              <a:t>万人民币，出让</a:t>
            </a:r>
            <a:r>
              <a:rPr lang="en-US" altLang="zh-CN" sz="1600" dirty="0">
                <a:sym typeface="+mn-ea"/>
              </a:rPr>
              <a:t>5~10%</a:t>
            </a:r>
            <a:r>
              <a:rPr lang="zh-CN" altLang="en-US" sz="1600" dirty="0">
                <a:sym typeface="+mn-ea"/>
              </a:rPr>
              <a:t>股份，</a:t>
            </a:r>
            <a:r>
              <a:rPr lang="en-US" altLang="zh-CN" sz="1600" dirty="0" err="1">
                <a:sym typeface="+mn-ea"/>
              </a:rPr>
              <a:t>OpenCangjie</a:t>
            </a:r>
            <a:r>
              <a:rPr lang="zh-CN" altLang="en-US" sz="1600" dirty="0">
                <a:sym typeface="+mn-ea"/>
              </a:rPr>
              <a:t>项目捐赠开放原子开源基金会，通过基金会官方孵化流程，进行开源项目孵化和从生态合作伙伴头部企业募集资金。产出</a:t>
            </a:r>
            <a:r>
              <a:rPr lang="en-US" altLang="zh-CN" sz="1600" dirty="0" err="1">
                <a:sym typeface="+mn-ea"/>
              </a:rPr>
              <a:t>OpenCangjie</a:t>
            </a:r>
            <a:r>
              <a:rPr lang="en-US" altLang="zh-CN" sz="1600" dirty="0">
                <a:sym typeface="+mn-ea"/>
              </a:rPr>
              <a:t> V1.0 LTS</a:t>
            </a:r>
            <a:r>
              <a:rPr lang="zh-CN" altLang="en-US" sz="1600" dirty="0">
                <a:sym typeface="+mn-ea"/>
              </a:rPr>
              <a:t>版本</a:t>
            </a:r>
            <a:r>
              <a:rPr lang="en-US" altLang="zh-CN" sz="1600" dirty="0">
                <a:sym typeface="+mn-ea"/>
              </a:rPr>
              <a:t>(</a:t>
            </a:r>
            <a:r>
              <a:rPr lang="zh-CN" altLang="en-US" sz="1600" dirty="0">
                <a:sym typeface="+mn-ea"/>
              </a:rPr>
              <a:t>仓颉编程语言于</a:t>
            </a:r>
            <a:r>
              <a:rPr lang="en-US" altLang="zh-CN" sz="1600" dirty="0">
                <a:sym typeface="+mn-ea"/>
              </a:rPr>
              <a:t>2025</a:t>
            </a:r>
            <a:r>
              <a:rPr lang="zh-CN" altLang="en-US" sz="1600" dirty="0">
                <a:sym typeface="+mn-ea"/>
              </a:rPr>
              <a:t>年</a:t>
            </a:r>
            <a:r>
              <a:rPr lang="en-US" altLang="zh-CN" sz="1600" dirty="0">
                <a:sym typeface="+mn-ea"/>
              </a:rPr>
              <a:t>07</a:t>
            </a:r>
            <a:r>
              <a:rPr lang="zh-CN" altLang="en-US" sz="1600" dirty="0">
                <a:sym typeface="+mn-ea"/>
              </a:rPr>
              <a:t>月</a:t>
            </a:r>
            <a:r>
              <a:rPr lang="en-US" altLang="zh-CN" sz="1600" dirty="0">
                <a:sym typeface="+mn-ea"/>
              </a:rPr>
              <a:t>30</a:t>
            </a:r>
            <a:r>
              <a:rPr lang="zh-CN" altLang="en-US" sz="1600" dirty="0">
                <a:sym typeface="+mn-ea"/>
              </a:rPr>
              <a:t>日华为发布了首个</a:t>
            </a:r>
            <a:r>
              <a:rPr lang="en-US" altLang="zh-CN" sz="1600" dirty="0">
                <a:sym typeface="+mn-ea"/>
              </a:rPr>
              <a:t>LTS</a:t>
            </a:r>
            <a:r>
              <a:rPr lang="zh-CN" altLang="en-US" sz="1600" dirty="0">
                <a:sym typeface="+mn-ea"/>
              </a:rPr>
              <a:t>版本</a:t>
            </a:r>
            <a:r>
              <a:rPr lang="en-US" altLang="zh-CN" sz="1600" dirty="0">
                <a:sym typeface="+mn-ea"/>
              </a:rPr>
              <a:t>)</a:t>
            </a:r>
            <a:r>
              <a:rPr lang="zh-CN" altLang="en-US" sz="1600" dirty="0">
                <a:sym typeface="+mn-ea"/>
              </a:rPr>
              <a:t>。</a:t>
            </a:r>
            <a:endParaRPr lang="en-US" altLang="zh-CN" sz="1600" dirty="0">
              <a:sym typeface="+mn-ea"/>
            </a:endParaRPr>
          </a:p>
          <a:p>
            <a:pPr>
              <a:lnSpc>
                <a:spcPct val="200000"/>
              </a:lnSpc>
            </a:pPr>
            <a:r>
              <a:rPr lang="en-US" altLang="zh-CN" sz="1600" dirty="0">
                <a:sym typeface="+mn-ea"/>
              </a:rPr>
              <a:t>3</a:t>
            </a:r>
            <a:r>
              <a:rPr lang="zh-CN" altLang="en-US" sz="1600" dirty="0">
                <a:sym typeface="+mn-ea"/>
              </a:rPr>
              <a:t>）</a:t>
            </a:r>
            <a:r>
              <a:rPr lang="en-US" altLang="zh-CN" sz="1600" dirty="0">
                <a:sym typeface="+mn-ea"/>
              </a:rPr>
              <a:t>A</a:t>
            </a:r>
            <a:r>
              <a:rPr lang="zh-CN" altLang="en-US" sz="1600" dirty="0">
                <a:sym typeface="+mn-ea"/>
              </a:rPr>
              <a:t>轮融资，</a:t>
            </a:r>
            <a:r>
              <a:rPr lang="en-US" altLang="zh-CN" sz="1600" dirty="0">
                <a:sym typeface="+mn-ea"/>
              </a:rPr>
              <a:t>2000</a:t>
            </a:r>
            <a:r>
              <a:rPr lang="zh-CN" altLang="en-US" sz="1600" dirty="0">
                <a:sym typeface="+mn-ea"/>
              </a:rPr>
              <a:t>万至</a:t>
            </a:r>
            <a:r>
              <a:rPr lang="en-US" altLang="zh-CN" sz="1600" dirty="0">
                <a:sym typeface="+mn-ea"/>
              </a:rPr>
              <a:t>10000</a:t>
            </a:r>
            <a:r>
              <a:rPr lang="zh-CN" altLang="en-US" sz="1600" dirty="0">
                <a:sym typeface="+mn-ea"/>
              </a:rPr>
              <a:t>万人民币，出让</a:t>
            </a:r>
            <a:r>
              <a:rPr lang="en-US" altLang="zh-CN" sz="1600" dirty="0">
                <a:sym typeface="+mn-ea"/>
              </a:rPr>
              <a:t>5~10%</a:t>
            </a:r>
            <a:r>
              <a:rPr lang="zh-CN" altLang="en-US" sz="1600" dirty="0">
                <a:sym typeface="+mn-ea"/>
              </a:rPr>
              <a:t>股份，</a:t>
            </a:r>
            <a:r>
              <a:rPr lang="en-US" altLang="zh-CN" sz="1600" dirty="0" err="1">
                <a:sym typeface="+mn-ea"/>
              </a:rPr>
              <a:t>OpenCangjie</a:t>
            </a:r>
            <a:r>
              <a:rPr lang="zh-CN" altLang="en-US" sz="1600" dirty="0">
                <a:sym typeface="+mn-ea"/>
              </a:rPr>
              <a:t>开发框架随仓颉编程语言版本长期演进，开源项目商业化。</a:t>
            </a:r>
            <a:endParaRPr lang="en-US" altLang="zh-CN" sz="1600" dirty="0">
              <a:sym typeface="+mn-ea"/>
            </a:endParaRPr>
          </a:p>
        </p:txBody>
      </p:sp>
      <p:sp>
        <p:nvSpPr>
          <p:cNvPr id="3" name="Text 1">
            <a:extLst>
              <a:ext uri="{FF2B5EF4-FFF2-40B4-BE49-F238E27FC236}">
                <a16:creationId xmlns:a16="http://schemas.microsoft.com/office/drawing/2014/main" id="{2CF3B65D-1FC8-4484-4200-7CCF9A9DF777}"/>
              </a:ext>
            </a:extLst>
          </p:cNvPr>
          <p:cNvSpPr/>
          <p:nvPr/>
        </p:nvSpPr>
        <p:spPr>
          <a:xfrm>
            <a:off x="1748595" y="1120695"/>
            <a:ext cx="8731835" cy="400050"/>
          </a:xfrm>
          <a:prstGeom prst="rect">
            <a:avLst/>
          </a:prstGeom>
          <a:noFill/>
          <a:ln/>
        </p:spPr>
        <p:txBody>
          <a:bodyPr vert="horz" wrap="square" lIns="0" tIns="0" rIns="0" bIns="0" rtlCol="0" anchor="ctr"/>
          <a:lstStyle/>
          <a:p>
            <a:pPr marL="0" indent="0" algn="l">
              <a:lnSpc>
                <a:spcPts val="3150"/>
              </a:lnSpc>
              <a:buNone/>
            </a:pPr>
            <a:r>
              <a:rPr lang="en-US" sz="2250" b="1" dirty="0" err="1">
                <a:solidFill>
                  <a:srgbClr val="333333"/>
                </a:solidFill>
                <a:latin typeface="Microsoft YaHei" pitchFamily="34" charset="0"/>
                <a:ea typeface="Microsoft YaHei" pitchFamily="34" charset="-122"/>
                <a:cs typeface="Microsoft YaHei" pitchFamily="34" charset="-120"/>
              </a:rPr>
              <a:t>本轮融资将用于人才引进、技术研发</a:t>
            </a:r>
            <a:r>
              <a:rPr lang="en-US" sz="2250" b="1" dirty="0">
                <a:solidFill>
                  <a:srgbClr val="333333"/>
                </a:solidFill>
                <a:latin typeface="Microsoft YaHei" pitchFamily="34" charset="0"/>
                <a:ea typeface="Microsoft YaHei" pitchFamily="34" charset="-122"/>
                <a:cs typeface="Microsoft YaHei" pitchFamily="34" charset="-120"/>
              </a:rPr>
              <a:t>、</a:t>
            </a:r>
            <a:r>
              <a:rPr lang="zh-CN" altLang="en-US" sz="2250" b="1" dirty="0">
                <a:solidFill>
                  <a:srgbClr val="333333"/>
                </a:solidFill>
                <a:latin typeface="Microsoft YaHei" pitchFamily="34" charset="0"/>
                <a:ea typeface="Microsoft YaHei" pitchFamily="34" charset="-122"/>
                <a:cs typeface="Microsoft YaHei" pitchFamily="34" charset="-120"/>
              </a:rPr>
              <a:t>开源</a:t>
            </a:r>
            <a:r>
              <a:rPr lang="en-US" sz="2250" b="1" dirty="0" err="1">
                <a:solidFill>
                  <a:srgbClr val="333333"/>
                </a:solidFill>
                <a:latin typeface="Microsoft YaHei" pitchFamily="34" charset="0"/>
                <a:ea typeface="Microsoft YaHei" pitchFamily="34" charset="-122"/>
                <a:cs typeface="Microsoft YaHei" pitchFamily="34" charset="-120"/>
              </a:rPr>
              <a:t>社区运营与生态合作拓展</a:t>
            </a:r>
            <a:endParaRPr lang="en-US" sz="2250" dirty="0"/>
          </a:p>
        </p:txBody>
      </p:sp>
    </p:spTree>
    <p:extLst>
      <p:ext uri="{BB962C8B-B14F-4D97-AF65-F5344CB8AC3E}">
        <p14:creationId xmlns:p14="http://schemas.microsoft.com/office/powerpoint/2010/main" val="3588627339"/>
      </p:ext>
    </p:extLst>
  </p:cSld>
  <p:clrMapOvr>
    <a:masterClrMapping/>
  </p:clrMapOvr>
  <mc:AlternateContent xmlns:mc="http://schemas.openxmlformats.org/markup-compatibility/2006" xmlns:p14="http://schemas.microsoft.com/office/powerpoint/2010/main">
    <mc:Choice Requires="p14">
      <p:transition p14:dur="0" advTm="3747"/>
    </mc:Choice>
    <mc:Fallback xmlns="">
      <p:transition advTm="374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7EC92-1F30-E226-30FB-6340736BA500}"/>
            </a:ext>
          </a:extLst>
        </p:cNvPr>
        <p:cNvGrpSpPr/>
        <p:nvPr/>
      </p:nvGrpSpPr>
      <p:grpSpPr>
        <a:xfrm>
          <a:off x="0" y="0"/>
          <a:ext cx="0" cy="0"/>
          <a:chOff x="0" y="0"/>
          <a:chExt cx="0" cy="0"/>
        </a:xfrm>
      </p:grpSpPr>
      <p:sp>
        <p:nvSpPr>
          <p:cNvPr id="2" name="Text Box 7">
            <a:extLst>
              <a:ext uri="{FF2B5EF4-FFF2-40B4-BE49-F238E27FC236}">
                <a16:creationId xmlns:a16="http://schemas.microsoft.com/office/drawing/2014/main" id="{33B9F980-BDDC-A09A-0DDF-8E39C6A1191E}"/>
              </a:ext>
            </a:extLst>
          </p:cNvPr>
          <p:cNvSpPr txBox="1">
            <a:spLocks noChangeArrowheads="1"/>
          </p:cNvSpPr>
          <p:nvPr/>
        </p:nvSpPr>
        <p:spPr bwMode="auto">
          <a:xfrm>
            <a:off x="-364293" y="223766"/>
            <a:ext cx="12226779" cy="677108"/>
          </a:xfrm>
          <a:prstGeom prst="rect">
            <a:avLst/>
          </a:prstGeom>
          <a:noFill/>
          <a:ln w="9525">
            <a:noFill/>
            <a:miter lim="800000"/>
          </a:ln>
        </p:spPr>
        <p:txBody>
          <a:bodyPr wrap="square" lIns="60960" tIns="30480" rIns="60960" bIns="30480">
            <a:spAutoFit/>
          </a:bodyPr>
          <a:lstStyle/>
          <a:p>
            <a:pPr algn="ctr" defTabSz="1450358"/>
            <a:r>
              <a:rPr lang="zh-CN" altLang="en-US" sz="4000" b="1" spc="-201" dirty="0">
                <a:latin typeface="Open Sans" panose="020B0606030504020204" pitchFamily="34" charset="0"/>
                <a:ea typeface="Open Sans" panose="020B0606030504020204" pitchFamily="34" charset="0"/>
                <a:cs typeface="Open Sans" panose="020B0606030504020204" pitchFamily="34" charset="0"/>
              </a:rPr>
              <a:t>发起人介绍</a:t>
            </a:r>
            <a:endParaRPr lang="en-CA" sz="4000" b="1" spc="-20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矩形 5">
            <a:extLst>
              <a:ext uri="{FF2B5EF4-FFF2-40B4-BE49-F238E27FC236}">
                <a16:creationId xmlns:a16="http://schemas.microsoft.com/office/drawing/2014/main" id="{EBFB7AAA-5081-B9D5-01B3-D8E1E5EFB059}"/>
              </a:ext>
            </a:extLst>
          </p:cNvPr>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8" name="文本框 7">
            <a:extLst>
              <a:ext uri="{FF2B5EF4-FFF2-40B4-BE49-F238E27FC236}">
                <a16:creationId xmlns:a16="http://schemas.microsoft.com/office/drawing/2014/main" id="{FE8998CD-EDF1-F295-AC93-82CEF6DED7AF}"/>
              </a:ext>
            </a:extLst>
          </p:cNvPr>
          <p:cNvSpPr txBox="1"/>
          <p:nvPr/>
        </p:nvSpPr>
        <p:spPr>
          <a:xfrm>
            <a:off x="3382316" y="1695210"/>
            <a:ext cx="877163" cy="369460"/>
          </a:xfrm>
          <a:prstGeom prst="rect">
            <a:avLst/>
          </a:prstGeom>
          <a:noFill/>
        </p:spPr>
        <p:txBody>
          <a:bodyPr wrap="none" rtlCol="0">
            <a:spAutoFit/>
          </a:bodyPr>
          <a:lstStyle/>
          <a:p>
            <a:r>
              <a:rPr lang="zh-CN" altLang="en-US" sz="1801" dirty="0">
                <a:solidFill>
                  <a:srgbClr val="333F50"/>
                </a:solidFill>
                <a:latin typeface="微软雅黑 Light" panose="020B0502040204020203" pitchFamily="34" charset="-122"/>
                <a:ea typeface="微软雅黑 Light" panose="020B0502040204020203" pitchFamily="34" charset="-122"/>
              </a:rPr>
              <a:t>王智鹏</a:t>
            </a:r>
          </a:p>
        </p:txBody>
      </p:sp>
      <p:sp>
        <p:nvSpPr>
          <p:cNvPr id="9" name="矩形 9">
            <a:extLst>
              <a:ext uri="{FF2B5EF4-FFF2-40B4-BE49-F238E27FC236}">
                <a16:creationId xmlns:a16="http://schemas.microsoft.com/office/drawing/2014/main" id="{599ECAAD-F538-629B-3020-6CA9E58E07D8}"/>
              </a:ext>
            </a:extLst>
          </p:cNvPr>
          <p:cNvSpPr>
            <a:spLocks noChangeArrowheads="1"/>
          </p:cNvSpPr>
          <p:nvPr/>
        </p:nvSpPr>
        <p:spPr bwMode="auto">
          <a:xfrm>
            <a:off x="3382315" y="2433875"/>
            <a:ext cx="7959762" cy="289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1401" dirty="0">
                <a:solidFill>
                  <a:srgbClr val="000000"/>
                </a:solidFill>
                <a:latin typeface="华文细黑" panose="02010600040101010101" pitchFamily="2" charset="-122"/>
                <a:ea typeface="华文细黑" panose="02010600040101010101" pitchFamily="2" charset="-122"/>
              </a:rPr>
              <a:t>四川大学示范性软件学院</a:t>
            </a:r>
            <a:r>
              <a:rPr lang="en-US" altLang="zh-CN" sz="1401" dirty="0">
                <a:solidFill>
                  <a:srgbClr val="000000"/>
                </a:solidFill>
                <a:latin typeface="华文细黑" panose="02010600040101010101" pitchFamily="2" charset="-122"/>
                <a:ea typeface="华文细黑" panose="02010600040101010101" pitchFamily="2" charset="-122"/>
              </a:rPr>
              <a:t>2000</a:t>
            </a:r>
            <a:r>
              <a:rPr lang="zh-CN" altLang="en-US" sz="1401" dirty="0">
                <a:solidFill>
                  <a:srgbClr val="000000"/>
                </a:solidFill>
                <a:latin typeface="华文细黑" panose="02010600040101010101" pitchFamily="2" charset="-122"/>
                <a:ea typeface="华文细黑" panose="02010600040101010101" pitchFamily="2" charset="-122"/>
              </a:rPr>
              <a:t>级软件工程专业本科，第一届全国示范性软件学院毕业生。</a:t>
            </a:r>
            <a:endParaRPr lang="en-US" altLang="zh-CN" sz="1401" dirty="0">
              <a:solidFill>
                <a:srgbClr val="000000"/>
              </a:solidFill>
              <a:latin typeface="华文细黑" panose="02010600040101010101" pitchFamily="2" charset="-122"/>
              <a:ea typeface="华文细黑" panose="02010600040101010101" pitchFamily="2" charset="-122"/>
            </a:endParaRPr>
          </a:p>
          <a:p>
            <a:pPr>
              <a:spcBef>
                <a:spcPct val="0"/>
              </a:spcBef>
              <a:buNone/>
            </a:pPr>
            <a:r>
              <a:rPr lang="en-US" altLang="zh-CN" sz="1401" dirty="0">
                <a:solidFill>
                  <a:srgbClr val="000000"/>
                </a:solidFill>
                <a:latin typeface="华文细黑" panose="02010600040101010101" pitchFamily="2" charset="-122"/>
                <a:ea typeface="华文细黑" panose="02010600040101010101" pitchFamily="2" charset="-122"/>
              </a:rPr>
              <a:t>2004~2005  </a:t>
            </a:r>
            <a:r>
              <a:rPr lang="zh-CN" altLang="en-US" sz="1401" dirty="0">
                <a:solidFill>
                  <a:srgbClr val="000000"/>
                </a:solidFill>
                <a:latin typeface="华文细黑" panose="02010600040101010101" pitchFamily="2" charset="-122"/>
                <a:ea typeface="华文细黑" panose="02010600040101010101" pitchFamily="2" charset="-122"/>
              </a:rPr>
              <a:t>深圳高新区信息网（深圳电信</a:t>
            </a:r>
            <a:r>
              <a:rPr lang="en-US" altLang="zh-CN" sz="1401" dirty="0">
                <a:solidFill>
                  <a:srgbClr val="000000"/>
                </a:solidFill>
                <a:latin typeface="华文细黑" panose="02010600040101010101" pitchFamily="2" charset="-122"/>
                <a:ea typeface="华文细黑" panose="02010600040101010101" pitchFamily="2" charset="-122"/>
              </a:rPr>
              <a:t>+</a:t>
            </a:r>
            <a:r>
              <a:rPr lang="zh-CN" altLang="en-US" sz="1401" dirty="0">
                <a:solidFill>
                  <a:srgbClr val="000000"/>
                </a:solidFill>
                <a:latin typeface="华文细黑" panose="02010600040101010101" pitchFamily="2" charset="-122"/>
                <a:ea typeface="华文细黑" panose="02010600040101010101" pitchFamily="2" charset="-122"/>
              </a:rPr>
              <a:t>深圳市政府合资）软件开发工程师</a:t>
            </a:r>
            <a:endParaRPr lang="en-US" altLang="zh-CN" sz="1401" dirty="0">
              <a:solidFill>
                <a:srgbClr val="000000"/>
              </a:solidFill>
              <a:latin typeface="华文细黑" panose="02010600040101010101" pitchFamily="2" charset="-122"/>
              <a:ea typeface="华文细黑" panose="02010600040101010101" pitchFamily="2" charset="-122"/>
            </a:endParaRPr>
          </a:p>
          <a:p>
            <a:pPr eaLnBrk="1" hangingPunct="1">
              <a:spcBef>
                <a:spcPct val="0"/>
              </a:spcBef>
              <a:buFontTx/>
              <a:buNone/>
            </a:pPr>
            <a:r>
              <a:rPr lang="en-US" altLang="zh-CN" sz="1401" dirty="0">
                <a:solidFill>
                  <a:srgbClr val="000000"/>
                </a:solidFill>
                <a:latin typeface="华文细黑" panose="02010600040101010101" pitchFamily="2" charset="-122"/>
                <a:ea typeface="华文细黑" panose="02010600040101010101" pitchFamily="2" charset="-122"/>
              </a:rPr>
              <a:t>2005~2006  </a:t>
            </a:r>
            <a:r>
              <a:rPr lang="zh-CN" altLang="en-US" sz="1401" dirty="0">
                <a:solidFill>
                  <a:srgbClr val="000000"/>
                </a:solidFill>
                <a:latin typeface="华文细黑" panose="02010600040101010101" pitchFamily="2" charset="-122"/>
                <a:ea typeface="华文细黑" panose="02010600040101010101" pitchFamily="2" charset="-122"/>
              </a:rPr>
              <a:t>华为公司                                   软件开发工程师     试用期在</a:t>
            </a:r>
            <a:r>
              <a:rPr lang="en-US" altLang="zh-CN" sz="1401" dirty="0">
                <a:solidFill>
                  <a:srgbClr val="000000"/>
                </a:solidFill>
                <a:latin typeface="华文细黑" panose="02010600040101010101" pitchFamily="2" charset="-122"/>
                <a:ea typeface="华文细黑" panose="02010600040101010101" pitchFamily="2" charset="-122"/>
              </a:rPr>
              <a:t>《</a:t>
            </a:r>
            <a:r>
              <a:rPr lang="zh-CN" altLang="en-US" sz="1401" dirty="0">
                <a:solidFill>
                  <a:srgbClr val="000000"/>
                </a:solidFill>
                <a:latin typeface="华文细黑" panose="02010600040101010101" pitchFamily="2" charset="-122"/>
                <a:ea typeface="华文细黑" panose="02010600040101010101" pitchFamily="2" charset="-122"/>
              </a:rPr>
              <a:t>华为技术内参</a:t>
            </a:r>
            <a:r>
              <a:rPr lang="en-US" altLang="zh-CN" sz="1401" dirty="0">
                <a:solidFill>
                  <a:srgbClr val="000000"/>
                </a:solidFill>
                <a:latin typeface="华文细黑" panose="02010600040101010101" pitchFamily="2" charset="-122"/>
                <a:ea typeface="华文细黑" panose="02010600040101010101" pitchFamily="2" charset="-122"/>
              </a:rPr>
              <a:t>》</a:t>
            </a:r>
            <a:r>
              <a:rPr lang="zh-CN" altLang="en-US" sz="1401" dirty="0">
                <a:solidFill>
                  <a:srgbClr val="000000"/>
                </a:solidFill>
                <a:latin typeface="华文细黑" panose="02010600040101010101" pitchFamily="2" charset="-122"/>
                <a:ea typeface="华文细黑" panose="02010600040101010101" pitchFamily="2" charset="-122"/>
              </a:rPr>
              <a:t>发表文章</a:t>
            </a:r>
          </a:p>
          <a:p>
            <a:pPr eaLnBrk="1" hangingPunct="1">
              <a:spcBef>
                <a:spcPct val="0"/>
              </a:spcBef>
              <a:buFontTx/>
              <a:buNone/>
            </a:pPr>
            <a:r>
              <a:rPr lang="en-US" altLang="zh-CN" sz="1401" dirty="0">
                <a:solidFill>
                  <a:srgbClr val="000000"/>
                </a:solidFill>
                <a:latin typeface="华文细黑" panose="02010600040101010101" pitchFamily="2" charset="-122"/>
                <a:ea typeface="华文细黑" panose="02010600040101010101" pitchFamily="2" charset="-122"/>
              </a:rPr>
              <a:t>2007~2012  </a:t>
            </a:r>
            <a:r>
              <a:rPr lang="zh-CN" altLang="en-US" sz="1401" dirty="0">
                <a:solidFill>
                  <a:srgbClr val="000000"/>
                </a:solidFill>
                <a:latin typeface="华文细黑" panose="02010600040101010101" pitchFamily="2" charset="-122"/>
                <a:ea typeface="华文细黑" panose="02010600040101010101" pitchFamily="2" charset="-122"/>
              </a:rPr>
              <a:t>深圳世融网络技术有限公司   创始人</a:t>
            </a:r>
            <a:endParaRPr lang="en-US" altLang="zh-CN" sz="1401" dirty="0">
              <a:solidFill>
                <a:srgbClr val="000000"/>
              </a:solidFill>
              <a:latin typeface="华文细黑" panose="02010600040101010101" pitchFamily="2" charset="-122"/>
              <a:ea typeface="华文细黑" panose="02010600040101010101" pitchFamily="2" charset="-122"/>
            </a:endParaRPr>
          </a:p>
          <a:p>
            <a:pPr eaLnBrk="1" hangingPunct="1">
              <a:spcBef>
                <a:spcPct val="0"/>
              </a:spcBef>
              <a:buFontTx/>
              <a:buNone/>
            </a:pPr>
            <a:r>
              <a:rPr lang="en-US" altLang="zh-CN" sz="1401" dirty="0">
                <a:solidFill>
                  <a:srgbClr val="000000"/>
                </a:solidFill>
                <a:latin typeface="华文细黑" panose="02010600040101010101" pitchFamily="2" charset="-122"/>
                <a:ea typeface="华文细黑" panose="02010600040101010101" pitchFamily="2" charset="-122"/>
              </a:rPr>
              <a:t>2014~</a:t>
            </a:r>
            <a:r>
              <a:rPr lang="zh-CN" altLang="en-US" sz="1401" dirty="0">
                <a:solidFill>
                  <a:srgbClr val="000000"/>
                </a:solidFill>
                <a:latin typeface="华文细黑" panose="02010600040101010101" pitchFamily="2" charset="-122"/>
                <a:ea typeface="华文细黑" panose="02010600040101010101" pitchFamily="2" charset="-122"/>
              </a:rPr>
              <a:t>至今   深圳优创智投科技有限公司   创始人</a:t>
            </a:r>
            <a:endParaRPr lang="en-US" altLang="zh-CN" sz="1401" dirty="0">
              <a:solidFill>
                <a:srgbClr val="000000"/>
              </a:solidFill>
              <a:latin typeface="华文细黑" panose="02010600040101010101" pitchFamily="2" charset="-122"/>
              <a:ea typeface="华文细黑" panose="02010600040101010101" pitchFamily="2" charset="-122"/>
            </a:endParaRPr>
          </a:p>
          <a:p>
            <a:pPr eaLnBrk="1" hangingPunct="1">
              <a:spcBef>
                <a:spcPct val="0"/>
              </a:spcBef>
              <a:buFontTx/>
              <a:buNone/>
            </a:pPr>
            <a:r>
              <a:rPr lang="en-US" altLang="zh-CN" sz="1401" dirty="0">
                <a:solidFill>
                  <a:srgbClr val="000000"/>
                </a:solidFill>
                <a:latin typeface="华文细黑" panose="02010600040101010101" pitchFamily="2" charset="-122"/>
                <a:ea typeface="华文细黑" panose="02010600040101010101" pitchFamily="2" charset="-122"/>
              </a:rPr>
              <a:t>2025              </a:t>
            </a:r>
            <a:r>
              <a:rPr lang="en-US" altLang="zh-CN" sz="1401" dirty="0" err="1">
                <a:solidFill>
                  <a:srgbClr val="000000"/>
                </a:solidFill>
                <a:latin typeface="华文细黑" panose="02010600040101010101" pitchFamily="2" charset="-122"/>
                <a:ea typeface="华文细黑" panose="02010600040101010101" pitchFamily="2" charset="-122"/>
              </a:rPr>
              <a:t>OpenCangjie</a:t>
            </a:r>
            <a:r>
              <a:rPr lang="zh-CN" altLang="en-US" sz="1401" dirty="0">
                <a:solidFill>
                  <a:srgbClr val="000000"/>
                </a:solidFill>
                <a:latin typeface="华文细黑" panose="02010600040101010101" pitchFamily="2" charset="-122"/>
                <a:ea typeface="华文细黑" panose="02010600040101010101" pitchFamily="2" charset="-122"/>
              </a:rPr>
              <a:t>开源项目        发起人</a:t>
            </a:r>
            <a:endParaRPr lang="en-US" altLang="zh-CN" sz="1401" dirty="0">
              <a:solidFill>
                <a:srgbClr val="000000"/>
              </a:solidFill>
              <a:latin typeface="华文细黑" panose="02010600040101010101" pitchFamily="2" charset="-122"/>
              <a:ea typeface="华文细黑" panose="02010600040101010101" pitchFamily="2" charset="-122"/>
            </a:endParaRPr>
          </a:p>
          <a:p>
            <a:pPr eaLnBrk="1" hangingPunct="1">
              <a:spcBef>
                <a:spcPct val="0"/>
              </a:spcBef>
              <a:buFontTx/>
              <a:buNone/>
            </a:pPr>
            <a:r>
              <a:rPr lang="zh-CN" altLang="en-US" sz="1401" dirty="0">
                <a:solidFill>
                  <a:srgbClr val="000000"/>
                </a:solidFill>
                <a:latin typeface="华文细黑" panose="02010600040101010101" pitchFamily="2" charset="-122"/>
                <a:ea typeface="华文细黑" panose="02010600040101010101" pitchFamily="2" charset="-122"/>
              </a:rPr>
              <a:t>十年以上开源项目开发经验，</a:t>
            </a:r>
            <a:r>
              <a:rPr lang="en-US" altLang="zh-CN" sz="1401" dirty="0" err="1">
                <a:solidFill>
                  <a:srgbClr val="000000"/>
                </a:solidFill>
                <a:latin typeface="华文细黑" panose="02010600040101010101" pitchFamily="2" charset="-122"/>
                <a:ea typeface="华文细黑" panose="02010600040101010101" pitchFamily="2" charset="-122"/>
              </a:rPr>
              <a:t>UCToo</a:t>
            </a:r>
            <a:r>
              <a:rPr lang="zh-CN" altLang="en-US" sz="1401" dirty="0">
                <a:solidFill>
                  <a:srgbClr val="000000"/>
                </a:solidFill>
                <a:latin typeface="华文细黑" panose="02010600040101010101" pitchFamily="2" charset="-122"/>
                <a:ea typeface="华文细黑" panose="02010600040101010101" pitchFamily="2" charset="-122"/>
              </a:rPr>
              <a:t>开发框架（</a:t>
            </a:r>
            <a:r>
              <a:rPr lang="en-US" altLang="zh-CN" sz="1401" dirty="0" err="1">
                <a:solidFill>
                  <a:srgbClr val="000000"/>
                </a:solidFill>
                <a:latin typeface="华文细黑" panose="02010600040101010101" pitchFamily="2" charset="-122"/>
                <a:ea typeface="华文细黑" panose="02010600040101010101" pitchFamily="2" charset="-122"/>
              </a:rPr>
              <a:t>gitee</a:t>
            </a:r>
            <a:r>
              <a:rPr lang="zh-CN" altLang="en-US" sz="1401" dirty="0">
                <a:solidFill>
                  <a:srgbClr val="000000"/>
                </a:solidFill>
                <a:latin typeface="华文细黑" panose="02010600040101010101" pitchFamily="2" charset="-122"/>
                <a:ea typeface="华文细黑" panose="02010600040101010101" pitchFamily="2" charset="-122"/>
              </a:rPr>
              <a:t>低代码类目排名前列）、</a:t>
            </a:r>
            <a:r>
              <a:rPr lang="en-US" altLang="zh-CN" sz="1401" dirty="0" err="1">
                <a:solidFill>
                  <a:srgbClr val="000000"/>
                </a:solidFill>
                <a:latin typeface="华文细黑" panose="02010600040101010101" pitchFamily="2" charset="-122"/>
                <a:ea typeface="华文细黑" panose="02010600040101010101" pitchFamily="2" charset="-122"/>
              </a:rPr>
              <a:t>commondb</a:t>
            </a:r>
            <a:r>
              <a:rPr lang="zh-CN" altLang="en-US" sz="1401" dirty="0">
                <a:solidFill>
                  <a:srgbClr val="000000"/>
                </a:solidFill>
                <a:latin typeface="华文细黑" panose="02010600040101010101" pitchFamily="2" charset="-122"/>
                <a:ea typeface="华文细黑" panose="02010600040101010101" pitchFamily="2" charset="-122"/>
              </a:rPr>
              <a:t>鸿蒙通用数据库第三方组件、仓颉版</a:t>
            </a:r>
            <a:r>
              <a:rPr lang="en-US" altLang="zh-CN" sz="1401" dirty="0">
                <a:solidFill>
                  <a:srgbClr val="000000"/>
                </a:solidFill>
                <a:latin typeface="华文细黑" panose="02010600040101010101" pitchFamily="2" charset="-122"/>
                <a:ea typeface="华文细黑" panose="02010600040101010101" pitchFamily="2" charset="-122"/>
              </a:rPr>
              <a:t>UMI-ORM</a:t>
            </a:r>
            <a:r>
              <a:rPr lang="zh-CN" altLang="en-US" sz="1401" dirty="0">
                <a:solidFill>
                  <a:srgbClr val="000000"/>
                </a:solidFill>
                <a:latin typeface="华文细黑" panose="02010600040101010101" pitchFamily="2" charset="-122"/>
                <a:ea typeface="华文细黑" panose="02010600040101010101" pitchFamily="2" charset="-122"/>
              </a:rPr>
              <a:t>、</a:t>
            </a:r>
            <a:r>
              <a:rPr lang="en-US" altLang="zh-CN" sz="1401" dirty="0" err="1">
                <a:solidFill>
                  <a:srgbClr val="000000"/>
                </a:solidFill>
                <a:latin typeface="华文细黑" panose="02010600040101010101" pitchFamily="2" charset="-122"/>
                <a:ea typeface="华文细黑" panose="02010600040101010101" pitchFamily="2" charset="-122"/>
              </a:rPr>
              <a:t>agentskill</a:t>
            </a:r>
            <a:r>
              <a:rPr lang="zh-CN" altLang="en-US" sz="1401" dirty="0">
                <a:solidFill>
                  <a:srgbClr val="000000"/>
                </a:solidFill>
                <a:latin typeface="华文细黑" panose="02010600040101010101" pitchFamily="2" charset="-122"/>
                <a:ea typeface="华文细黑" panose="02010600040101010101" pitchFamily="2" charset="-122"/>
              </a:rPr>
              <a:t>运行时等第三方库作者，开发和维护了多个流行开源项目和</a:t>
            </a:r>
            <a:r>
              <a:rPr lang="en-US" altLang="zh-CN" sz="1401" dirty="0">
                <a:solidFill>
                  <a:srgbClr val="000000"/>
                </a:solidFill>
                <a:latin typeface="华文细黑" panose="02010600040101010101" pitchFamily="2" charset="-122"/>
                <a:ea typeface="华文细黑" panose="02010600040101010101" pitchFamily="2" charset="-122"/>
              </a:rPr>
              <a:t>SDK</a:t>
            </a:r>
            <a:r>
              <a:rPr lang="zh-CN" altLang="en-US" sz="1401" dirty="0">
                <a:solidFill>
                  <a:srgbClr val="000000"/>
                </a:solidFill>
                <a:latin typeface="华文细黑" panose="02010600040101010101" pitchFamily="2" charset="-122"/>
                <a:ea typeface="华文细黑" panose="02010600040101010101" pitchFamily="2" charset="-122"/>
              </a:rPr>
              <a:t>。</a:t>
            </a:r>
          </a:p>
          <a:p>
            <a:pPr>
              <a:spcBef>
                <a:spcPct val="0"/>
              </a:spcBef>
              <a:buNone/>
            </a:pPr>
            <a:r>
              <a:rPr lang="zh-CN" altLang="en-US" sz="1401" dirty="0">
                <a:solidFill>
                  <a:srgbClr val="000000"/>
                </a:solidFill>
                <a:latin typeface="华文细黑" panose="02010600040101010101" pitchFamily="2" charset="-122"/>
                <a:ea typeface="华文细黑" panose="02010600040101010101" pitchFamily="2" charset="-122"/>
              </a:rPr>
              <a:t>最早进入鸿蒙生态的开发者，华为首届</a:t>
            </a:r>
            <a:r>
              <a:rPr lang="en-US" altLang="zh-CN" sz="1401" dirty="0">
                <a:solidFill>
                  <a:srgbClr val="000000"/>
                </a:solidFill>
                <a:latin typeface="华文细黑" panose="02010600040101010101" pitchFamily="2" charset="-122"/>
                <a:ea typeface="华文细黑" panose="02010600040101010101" pitchFamily="2" charset="-122"/>
              </a:rPr>
              <a:t>HarmonyOS</a:t>
            </a:r>
            <a:r>
              <a:rPr lang="zh-CN" altLang="en-US" sz="1401" dirty="0">
                <a:solidFill>
                  <a:srgbClr val="000000"/>
                </a:solidFill>
                <a:latin typeface="华文细黑" panose="02010600040101010101" pitchFamily="2" charset="-122"/>
                <a:ea typeface="华文细黑" panose="02010600040101010101" pitchFamily="2" charset="-122"/>
              </a:rPr>
              <a:t>极客松决赛队队长，第一批仓颉中级认证开发者</a:t>
            </a:r>
            <a:endParaRPr lang="en-US" altLang="zh-CN" sz="1401" dirty="0">
              <a:solidFill>
                <a:srgbClr val="000000"/>
              </a:solidFill>
              <a:latin typeface="华文细黑" panose="02010600040101010101" pitchFamily="2" charset="-122"/>
              <a:ea typeface="华文细黑" panose="02010600040101010101" pitchFamily="2" charset="-122"/>
            </a:endParaRPr>
          </a:p>
          <a:p>
            <a:pPr>
              <a:spcBef>
                <a:spcPct val="0"/>
              </a:spcBef>
              <a:buNone/>
            </a:pPr>
            <a:r>
              <a:rPr lang="zh-CN" altLang="en-US" sz="1401" dirty="0">
                <a:solidFill>
                  <a:srgbClr val="000000"/>
                </a:solidFill>
                <a:latin typeface="华文细黑" panose="02010600040101010101" pitchFamily="2" charset="-122"/>
                <a:ea typeface="华文细黑" panose="02010600040101010101" pitchFamily="2" charset="-122"/>
              </a:rPr>
              <a:t>科技自媒体作者，</a:t>
            </a:r>
            <a:r>
              <a:rPr lang="en-US" altLang="zh-CN" sz="1401" dirty="0">
                <a:solidFill>
                  <a:srgbClr val="000000"/>
                </a:solidFill>
                <a:latin typeface="华文细黑" panose="02010600040101010101" pitchFamily="2" charset="-122"/>
                <a:ea typeface="华文细黑" panose="02010600040101010101" pitchFamily="2" charset="-122"/>
              </a:rPr>
              <a:t>2019</a:t>
            </a:r>
            <a:r>
              <a:rPr lang="zh-CN" altLang="en-US" sz="1401" dirty="0">
                <a:solidFill>
                  <a:srgbClr val="000000"/>
                </a:solidFill>
                <a:latin typeface="华文细黑" panose="02010600040101010101" pitchFamily="2" charset="-122"/>
                <a:ea typeface="华文细黑" panose="02010600040101010101" pitchFamily="2" charset="-122"/>
              </a:rPr>
              <a:t>年发表文章</a:t>
            </a:r>
            <a:r>
              <a:rPr lang="en-US" altLang="zh-CN" sz="1401" dirty="0">
                <a:solidFill>
                  <a:srgbClr val="000000"/>
                </a:solidFill>
                <a:latin typeface="华文细黑" panose="02010600040101010101" pitchFamily="2" charset="-122"/>
                <a:ea typeface="华文细黑" panose="02010600040101010101" pitchFamily="2" charset="-122"/>
              </a:rPr>
              <a:t>《</a:t>
            </a:r>
            <a:r>
              <a:rPr lang="zh-CN" altLang="en-US" sz="1401" dirty="0">
                <a:solidFill>
                  <a:srgbClr val="000000"/>
                </a:solidFill>
                <a:latin typeface="华文细黑" panose="02010600040101010101" pitchFamily="2" charset="-122"/>
                <a:ea typeface="华文细黑" panose="02010600040101010101" pitchFamily="2" charset="-122"/>
              </a:rPr>
              <a:t>决胜</a:t>
            </a:r>
            <a:r>
              <a:rPr lang="en-US" altLang="zh-CN" sz="1401" dirty="0">
                <a:solidFill>
                  <a:srgbClr val="000000"/>
                </a:solidFill>
                <a:latin typeface="华文细黑" panose="02010600040101010101" pitchFamily="2" charset="-122"/>
                <a:ea typeface="华文细黑" panose="02010600040101010101" pitchFamily="2" charset="-122"/>
              </a:rPr>
              <a:t>5G</a:t>
            </a:r>
            <a:r>
              <a:rPr lang="zh-CN" altLang="en-US" sz="1401" dirty="0">
                <a:solidFill>
                  <a:srgbClr val="000000"/>
                </a:solidFill>
                <a:latin typeface="华文细黑" panose="02010600040101010101" pitchFamily="2" charset="-122"/>
                <a:ea typeface="华文细黑" panose="02010600040101010101" pitchFamily="2" charset="-122"/>
              </a:rPr>
              <a:t>时代的操作系统</a:t>
            </a:r>
            <a:r>
              <a:rPr lang="en-US" altLang="zh-CN" sz="1401" dirty="0">
                <a:solidFill>
                  <a:srgbClr val="000000"/>
                </a:solidFill>
                <a:latin typeface="华文细黑" panose="02010600040101010101" pitchFamily="2" charset="-122"/>
                <a:ea typeface="华文细黑" panose="02010600040101010101" pitchFamily="2" charset="-122"/>
              </a:rPr>
              <a:t>》</a:t>
            </a:r>
            <a:r>
              <a:rPr lang="zh-CN" altLang="en-US" sz="1401" dirty="0">
                <a:solidFill>
                  <a:srgbClr val="000000"/>
                </a:solidFill>
                <a:latin typeface="华文细黑" panose="02010600040101010101" pitchFamily="2" charset="-122"/>
                <a:ea typeface="华文细黑" panose="02010600040101010101" pitchFamily="2" charset="-122"/>
              </a:rPr>
              <a:t>业界最早提出新一代操作系统具有人工智能深度集成特点，现已成为业界共识。提出和开发了全栈模型同构（</a:t>
            </a:r>
            <a:r>
              <a:rPr lang="en-US" altLang="zh-CN" sz="1401" dirty="0">
                <a:solidFill>
                  <a:srgbClr val="000000"/>
                </a:solidFill>
                <a:latin typeface="华文细黑" panose="02010600040101010101" pitchFamily="2" charset="-122"/>
                <a:ea typeface="华文细黑" panose="02010600040101010101" pitchFamily="2" charset="-122"/>
              </a:rPr>
              <a:t>UMI</a:t>
            </a:r>
            <a:r>
              <a:rPr lang="zh-CN" altLang="en-US" sz="1401" dirty="0">
                <a:solidFill>
                  <a:srgbClr val="000000"/>
                </a:solidFill>
                <a:latin typeface="华文细黑" panose="02010600040101010101" pitchFamily="2" charset="-122"/>
                <a:ea typeface="华文细黑" panose="02010600040101010101" pitchFamily="2" charset="-122"/>
              </a:rPr>
              <a:t>）架构等技术理念。</a:t>
            </a:r>
            <a:endParaRPr lang="zh-CN" altLang="zh-CN" sz="1401" dirty="0">
              <a:solidFill>
                <a:srgbClr val="000000"/>
              </a:solidFill>
              <a:latin typeface="华文细黑" panose="02010600040101010101" pitchFamily="2" charset="-122"/>
              <a:ea typeface="华文细黑" panose="02010600040101010101" pitchFamily="2" charset="-122"/>
            </a:endParaRPr>
          </a:p>
        </p:txBody>
      </p:sp>
      <p:sp>
        <p:nvSpPr>
          <p:cNvPr id="3" name="文本框 2">
            <a:extLst>
              <a:ext uri="{FF2B5EF4-FFF2-40B4-BE49-F238E27FC236}">
                <a16:creationId xmlns:a16="http://schemas.microsoft.com/office/drawing/2014/main" id="{283C4FCE-8DAA-F67A-F022-8E2A9A471780}"/>
              </a:ext>
            </a:extLst>
          </p:cNvPr>
          <p:cNvSpPr txBox="1"/>
          <p:nvPr/>
        </p:nvSpPr>
        <p:spPr>
          <a:xfrm>
            <a:off x="3382315" y="2064541"/>
            <a:ext cx="800219" cy="338554"/>
          </a:xfrm>
          <a:prstGeom prst="rect">
            <a:avLst/>
          </a:prstGeom>
          <a:noFill/>
        </p:spPr>
        <p:txBody>
          <a:bodyPr wrap="none" rtlCol="0">
            <a:spAutoFit/>
          </a:bodyPr>
          <a:lstStyle/>
          <a:p>
            <a:r>
              <a:rPr lang="zh-CN" altLang="en-US" sz="1600" dirty="0">
                <a:solidFill>
                  <a:srgbClr val="333F50"/>
                </a:solidFill>
                <a:latin typeface="微软雅黑 Light" panose="020B0502040204020203" pitchFamily="34" charset="-122"/>
                <a:ea typeface="微软雅黑 Light" panose="020B0502040204020203" pitchFamily="34" charset="-122"/>
              </a:rPr>
              <a:t>发起人</a:t>
            </a:r>
          </a:p>
        </p:txBody>
      </p:sp>
      <p:pic>
        <p:nvPicPr>
          <p:cNvPr id="5" name="图片 4">
            <a:extLst>
              <a:ext uri="{FF2B5EF4-FFF2-40B4-BE49-F238E27FC236}">
                <a16:creationId xmlns:a16="http://schemas.microsoft.com/office/drawing/2014/main" id="{A267BBC4-3161-C2BB-2E4A-27EDEAC320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351085" y="1760606"/>
            <a:ext cx="1892487" cy="3029820"/>
          </a:xfrm>
          <a:prstGeom prst="rect">
            <a:avLst/>
          </a:prstGeom>
        </p:spPr>
      </p:pic>
    </p:spTree>
    <p:extLst>
      <p:ext uri="{BB962C8B-B14F-4D97-AF65-F5344CB8AC3E}">
        <p14:creationId xmlns:p14="http://schemas.microsoft.com/office/powerpoint/2010/main" val="785106071"/>
      </p:ext>
    </p:extLst>
  </p:cSld>
  <p:clrMapOvr>
    <a:masterClrMapping/>
  </p:clrMapOvr>
  <mc:AlternateContent xmlns:mc="http://schemas.openxmlformats.org/markup-compatibility/2006" xmlns:p14="http://schemas.microsoft.com/office/powerpoint/2010/main">
    <mc:Choice Requires="p14">
      <p:transition p14:dur="0" advTm="3747"/>
    </mc:Choice>
    <mc:Fallback xmlns="">
      <p:transition advTm="374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t="-20000" b="-20000"/>
          </a:stretch>
        </a:blipFill>
        <a:effectLst/>
      </p:bgPr>
    </p:bg>
    <p:spTree>
      <p:nvGrpSpPr>
        <p:cNvPr id="1" name=""/>
        <p:cNvGrpSpPr/>
        <p:nvPr/>
      </p:nvGrpSpPr>
      <p:grpSpPr>
        <a:xfrm>
          <a:off x="0" y="0"/>
          <a:ext cx="0" cy="0"/>
          <a:chOff x="0" y="0"/>
          <a:chExt cx="0" cy="0"/>
        </a:xfrm>
      </p:grpSpPr>
      <p:sp>
        <p:nvSpPr>
          <p:cNvPr id="3" name="矩形 2"/>
          <p:cNvSpPr/>
          <p:nvPr/>
        </p:nvSpPr>
        <p:spPr>
          <a:xfrm>
            <a:off x="0" y="1090310"/>
            <a:ext cx="12192000" cy="145533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4" name="文本框 3"/>
          <p:cNvSpPr txBox="1"/>
          <p:nvPr/>
        </p:nvSpPr>
        <p:spPr>
          <a:xfrm>
            <a:off x="2486549" y="1186494"/>
            <a:ext cx="7218899" cy="646331"/>
          </a:xfrm>
          <a:prstGeom prst="rect">
            <a:avLst/>
          </a:prstGeom>
          <a:noFill/>
        </p:spPr>
        <p:txBody>
          <a:bodyPr wrap="none" rtlCol="0">
            <a:spAutoFit/>
          </a:bodyPr>
          <a:lstStyle/>
          <a:p>
            <a:r>
              <a:rPr lang="en-US" altLang="zh-CN" sz="3600" dirty="0" err="1">
                <a:solidFill>
                  <a:schemeClr val="bg1"/>
                </a:solidFill>
                <a:latin typeface="锐字荣光粗黑简1.0" panose="02000500000000000000" pitchFamily="2" charset="-122"/>
                <a:ea typeface="锐字荣光粗黑简1.0" panose="02000500000000000000" pitchFamily="2" charset="-122"/>
              </a:rPr>
              <a:t>OpenCangjie</a:t>
            </a:r>
            <a:r>
              <a:rPr lang="zh-CN" altLang="en-US" sz="3600" dirty="0">
                <a:solidFill>
                  <a:schemeClr val="bg1"/>
                </a:solidFill>
                <a:latin typeface="锐字荣光粗黑简1.0" panose="02000500000000000000" pitchFamily="2" charset="-122"/>
                <a:ea typeface="锐字荣光粗黑简1.0" panose="02000500000000000000" pitchFamily="2" charset="-122"/>
              </a:rPr>
              <a:t>原生智能世界新选择</a:t>
            </a:r>
          </a:p>
        </p:txBody>
      </p:sp>
      <p:sp>
        <p:nvSpPr>
          <p:cNvPr id="2" name="矩形 1"/>
          <p:cNvSpPr/>
          <p:nvPr/>
        </p:nvSpPr>
        <p:spPr>
          <a:xfrm>
            <a:off x="6351301" y="4312352"/>
            <a:ext cx="5561068" cy="369460"/>
          </a:xfrm>
          <a:prstGeom prst="rect">
            <a:avLst/>
          </a:prstGeom>
        </p:spPr>
        <p:txBody>
          <a:bodyPr wrap="square">
            <a:spAutoFit/>
          </a:bodyPr>
          <a:lstStyle/>
          <a:p>
            <a:pPr defTabSz="1450358"/>
            <a:r>
              <a:rPr lang="zh-CN" altLang="en-US" sz="1801" dirty="0">
                <a:latin typeface="Open Sans Semibold" pitchFamily="34" charset="0"/>
                <a:ea typeface="Open Sans Semibold" pitchFamily="34" charset="0"/>
                <a:cs typeface="Open Sans Semibold" pitchFamily="34" charset="0"/>
              </a:rPr>
              <a:t>网  址 ：</a:t>
            </a:r>
            <a:r>
              <a:rPr lang="en-US" altLang="zh-CN" sz="1801" dirty="0">
                <a:latin typeface="Open Sans Semibold" pitchFamily="34" charset="0"/>
                <a:ea typeface="Open Sans Semibold" pitchFamily="34" charset="0"/>
                <a:cs typeface="Open Sans Semibold" pitchFamily="34" charset="0"/>
                <a:hlinkClick r:id="rId4"/>
              </a:rPr>
              <a:t>https://www.uctoo.com</a:t>
            </a:r>
            <a:endParaRPr lang="en-US" altLang="zh-CN" sz="1801" dirty="0">
              <a:latin typeface="Open Sans Semibold" pitchFamily="34" charset="0"/>
              <a:ea typeface="Open Sans Semibold" pitchFamily="34" charset="0"/>
              <a:cs typeface="Open Sans Semibold" pitchFamily="34" charset="0"/>
            </a:endParaRPr>
          </a:p>
        </p:txBody>
      </p:sp>
      <p:pic>
        <p:nvPicPr>
          <p:cNvPr id="11" name="Picture 5" descr="E:\uctoo\名片\mmqrcode139486102023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39715" y="3464169"/>
            <a:ext cx="3393833" cy="339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97932" y="197369"/>
            <a:ext cx="646331" cy="461665"/>
          </a:xfrm>
          <a:prstGeom prst="rect">
            <a:avLst/>
          </a:prstGeom>
        </p:spPr>
        <p:txBody>
          <a:bodyPr wrap="none">
            <a:spAutoFit/>
          </a:bodyPr>
          <a:lstStyle/>
          <a:p>
            <a:r>
              <a:rPr lang="en-US" altLang="zh-CN" sz="2400" dirty="0">
                <a:solidFill>
                  <a:srgbClr val="2E75B6"/>
                </a:solidFill>
                <a:latin typeface="+mj-ea"/>
                <a:ea typeface="+mj-ea"/>
              </a:rPr>
              <a:t>UCT</a:t>
            </a:r>
            <a:endParaRPr lang="zh-CN" altLang="en-US" sz="2400" dirty="0"/>
          </a:p>
        </p:txBody>
      </p:sp>
      <p:sp>
        <p:nvSpPr>
          <p:cNvPr id="5" name="文本框 4">
            <a:extLst>
              <a:ext uri="{FF2B5EF4-FFF2-40B4-BE49-F238E27FC236}">
                <a16:creationId xmlns:a16="http://schemas.microsoft.com/office/drawing/2014/main" id="{AB0FEB5C-6550-8D0C-922F-56A852876645}"/>
              </a:ext>
            </a:extLst>
          </p:cNvPr>
          <p:cNvSpPr txBox="1"/>
          <p:nvPr/>
        </p:nvSpPr>
        <p:spPr>
          <a:xfrm>
            <a:off x="3579926" y="1832825"/>
            <a:ext cx="5032147" cy="646331"/>
          </a:xfrm>
          <a:prstGeom prst="rect">
            <a:avLst/>
          </a:prstGeom>
          <a:noFill/>
        </p:spPr>
        <p:txBody>
          <a:bodyPr wrap="none" rtlCol="0">
            <a:spAutoFit/>
          </a:bodyPr>
          <a:lstStyle/>
          <a:p>
            <a:r>
              <a:rPr lang="zh-CN" altLang="en-US" sz="3600" dirty="0">
                <a:solidFill>
                  <a:schemeClr val="bg1"/>
                </a:solidFill>
                <a:latin typeface="黑体" panose="02010609060101010101" pitchFamily="49" charset="-122"/>
                <a:ea typeface="黑体" panose="02010609060101010101" pitchFamily="49" charset="-122"/>
              </a:rPr>
              <a:t>以中国智慧 筑全球智联</a:t>
            </a:r>
          </a:p>
        </p:txBody>
      </p:sp>
    </p:spTree>
  </p:cSld>
  <p:clrMapOvr>
    <a:masterClrMapping/>
  </p:clrMapOvr>
  <mc:AlternateContent xmlns:mc="http://schemas.openxmlformats.org/markup-compatibility/2006" xmlns:p14="http://schemas.microsoft.com/office/powerpoint/2010/main">
    <mc:Choice Requires="p14">
      <p:transition p14:dur="0" advTm="24734"/>
    </mc:Choice>
    <mc:Fallback xmlns="">
      <p:transition advTm="2473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OC_GUID" val="{7ab27317-82e7-46f4-9e34-30ae3fd3564f}"/>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905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22214</TotalTime>
  <Words>1481</Words>
  <Application>Microsoft Office PowerPoint</Application>
  <PresentationFormat>宽屏</PresentationFormat>
  <Paragraphs>114</Paragraphs>
  <Slides>15</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方正兰亭黑简体</vt:lpstr>
      <vt:lpstr>黑体</vt:lpstr>
      <vt:lpstr>华文细黑</vt:lpstr>
      <vt:lpstr>锐字荣光粗黑简1.0</vt:lpstr>
      <vt:lpstr>微软雅黑</vt:lpstr>
      <vt:lpstr>微软雅黑 Light</vt:lpstr>
      <vt:lpstr>Arial</vt:lpstr>
      <vt:lpstr>Calibri</vt:lpstr>
      <vt:lpstr>Calibri Light</vt:lpstr>
      <vt:lpstr>Open Sans</vt:lpstr>
      <vt:lpstr>Open Sans SemiBold</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LHCan</dc:creator>
  <cp:lastModifiedBy>patrick wang</cp:lastModifiedBy>
  <cp:revision>764</cp:revision>
  <dcterms:created xsi:type="dcterms:W3CDTF">2015-05-05T08:02:00Z</dcterms:created>
  <dcterms:modified xsi:type="dcterms:W3CDTF">2026-02-08T05:50:31Z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2052-11.1.0.8527</vt:lpwstr>
  </property>
</Properties>
</file>